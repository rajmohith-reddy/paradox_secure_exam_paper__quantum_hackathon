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ordita" charset="1" panose="00000000000000000000"/>
      <p:regular r:id="rId12"/>
    </p:embeddedFont>
    <p:embeddedFont>
      <p:font typeface="Gordita Bold" charset="1" panose="00000000000000000000"/>
      <p:regular r:id="rId13"/>
    </p:embeddedFont>
    <p:embeddedFont>
      <p:font typeface="Lilita One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2452" y="1968339"/>
            <a:ext cx="12248071" cy="1606997"/>
            <a:chOff x="0" y="0"/>
            <a:chExt cx="2441188" cy="320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188" cy="320294"/>
            </a:xfrm>
            <a:custGeom>
              <a:avLst/>
              <a:gdLst/>
              <a:ahLst/>
              <a:cxnLst/>
              <a:rect r="r" b="b" t="t" l="l"/>
              <a:pathLst>
                <a:path h="320294" w="2441188">
                  <a:moveTo>
                    <a:pt x="0" y="0"/>
                  </a:moveTo>
                  <a:lnTo>
                    <a:pt x="2441188" y="0"/>
                  </a:lnTo>
                  <a:lnTo>
                    <a:pt x="2441188" y="320294"/>
                  </a:lnTo>
                  <a:lnTo>
                    <a:pt x="0" y="320294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441188" cy="348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13517" y="4554577"/>
            <a:ext cx="11493179" cy="2640793"/>
            <a:chOff x="0" y="0"/>
            <a:chExt cx="2151513" cy="4943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1513" cy="494354"/>
            </a:xfrm>
            <a:custGeom>
              <a:avLst/>
              <a:gdLst/>
              <a:ahLst/>
              <a:cxnLst/>
              <a:rect r="r" b="b" t="t" l="l"/>
              <a:pathLst>
                <a:path h="494354" w="2151513">
                  <a:moveTo>
                    <a:pt x="0" y="0"/>
                  </a:moveTo>
                  <a:lnTo>
                    <a:pt x="2151513" y="0"/>
                  </a:lnTo>
                  <a:lnTo>
                    <a:pt x="2151513" y="494354"/>
                  </a:lnTo>
                  <a:lnTo>
                    <a:pt x="0" y="494354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51513" cy="52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2539" y="1877689"/>
            <a:ext cx="279827" cy="181301"/>
            <a:chOff x="0" y="0"/>
            <a:chExt cx="55773" cy="361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773" cy="36135"/>
            </a:xfrm>
            <a:custGeom>
              <a:avLst/>
              <a:gdLst/>
              <a:ahLst/>
              <a:cxnLst/>
              <a:rect r="r" b="b" t="t" l="l"/>
              <a:pathLst>
                <a:path h="36135" w="55773">
                  <a:moveTo>
                    <a:pt x="0" y="0"/>
                  </a:moveTo>
                  <a:lnTo>
                    <a:pt x="55773" y="0"/>
                  </a:lnTo>
                  <a:lnTo>
                    <a:pt x="55773" y="36135"/>
                  </a:lnTo>
                  <a:lnTo>
                    <a:pt x="0" y="3613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5773" cy="6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27610" y="4405610"/>
            <a:ext cx="371813" cy="297933"/>
            <a:chOff x="0" y="0"/>
            <a:chExt cx="69603" cy="557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603" cy="55773"/>
            </a:xfrm>
            <a:custGeom>
              <a:avLst/>
              <a:gdLst/>
              <a:ahLst/>
              <a:cxnLst/>
              <a:rect r="r" b="b" t="t" l="l"/>
              <a:pathLst>
                <a:path h="55773" w="69603">
                  <a:moveTo>
                    <a:pt x="0" y="0"/>
                  </a:moveTo>
                  <a:lnTo>
                    <a:pt x="69603" y="0"/>
                  </a:lnTo>
                  <a:lnTo>
                    <a:pt x="69603" y="55773"/>
                  </a:lnTo>
                  <a:lnTo>
                    <a:pt x="0" y="5577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9603" cy="8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60610" y="1877689"/>
            <a:ext cx="279827" cy="181301"/>
            <a:chOff x="0" y="0"/>
            <a:chExt cx="55773" cy="361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773" cy="36135"/>
            </a:xfrm>
            <a:custGeom>
              <a:avLst/>
              <a:gdLst/>
              <a:ahLst/>
              <a:cxnLst/>
              <a:rect r="r" b="b" t="t" l="l"/>
              <a:pathLst>
                <a:path h="36135" w="55773">
                  <a:moveTo>
                    <a:pt x="0" y="0"/>
                  </a:moveTo>
                  <a:lnTo>
                    <a:pt x="55773" y="0"/>
                  </a:lnTo>
                  <a:lnTo>
                    <a:pt x="55773" y="36135"/>
                  </a:lnTo>
                  <a:lnTo>
                    <a:pt x="0" y="3613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5773" cy="6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20789" y="4405610"/>
            <a:ext cx="371813" cy="297933"/>
            <a:chOff x="0" y="0"/>
            <a:chExt cx="69603" cy="557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603" cy="55773"/>
            </a:xfrm>
            <a:custGeom>
              <a:avLst/>
              <a:gdLst/>
              <a:ahLst/>
              <a:cxnLst/>
              <a:rect r="r" b="b" t="t" l="l"/>
              <a:pathLst>
                <a:path h="55773" w="69603">
                  <a:moveTo>
                    <a:pt x="0" y="0"/>
                  </a:moveTo>
                  <a:lnTo>
                    <a:pt x="69603" y="0"/>
                  </a:lnTo>
                  <a:lnTo>
                    <a:pt x="69603" y="55773"/>
                  </a:lnTo>
                  <a:lnTo>
                    <a:pt x="0" y="5577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9603" cy="8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2539" y="3475879"/>
            <a:ext cx="279827" cy="181301"/>
            <a:chOff x="0" y="0"/>
            <a:chExt cx="55773" cy="361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773" cy="36135"/>
            </a:xfrm>
            <a:custGeom>
              <a:avLst/>
              <a:gdLst/>
              <a:ahLst/>
              <a:cxnLst/>
              <a:rect r="r" b="b" t="t" l="l"/>
              <a:pathLst>
                <a:path h="36135" w="55773">
                  <a:moveTo>
                    <a:pt x="0" y="0"/>
                  </a:moveTo>
                  <a:lnTo>
                    <a:pt x="55773" y="0"/>
                  </a:lnTo>
                  <a:lnTo>
                    <a:pt x="55773" y="36135"/>
                  </a:lnTo>
                  <a:lnTo>
                    <a:pt x="0" y="3613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5773" cy="6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527610" y="7031930"/>
            <a:ext cx="371813" cy="297933"/>
            <a:chOff x="0" y="0"/>
            <a:chExt cx="69603" cy="557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603" cy="55773"/>
            </a:xfrm>
            <a:custGeom>
              <a:avLst/>
              <a:gdLst/>
              <a:ahLst/>
              <a:cxnLst/>
              <a:rect r="r" b="b" t="t" l="l"/>
              <a:pathLst>
                <a:path h="55773" w="69603">
                  <a:moveTo>
                    <a:pt x="0" y="0"/>
                  </a:moveTo>
                  <a:lnTo>
                    <a:pt x="69603" y="0"/>
                  </a:lnTo>
                  <a:lnTo>
                    <a:pt x="69603" y="55773"/>
                  </a:lnTo>
                  <a:lnTo>
                    <a:pt x="0" y="5577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9603" cy="8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460610" y="3475879"/>
            <a:ext cx="279827" cy="181301"/>
            <a:chOff x="0" y="0"/>
            <a:chExt cx="55773" cy="361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773" cy="36135"/>
            </a:xfrm>
            <a:custGeom>
              <a:avLst/>
              <a:gdLst/>
              <a:ahLst/>
              <a:cxnLst/>
              <a:rect r="r" b="b" t="t" l="l"/>
              <a:pathLst>
                <a:path h="36135" w="55773">
                  <a:moveTo>
                    <a:pt x="0" y="0"/>
                  </a:moveTo>
                  <a:lnTo>
                    <a:pt x="55773" y="0"/>
                  </a:lnTo>
                  <a:lnTo>
                    <a:pt x="55773" y="36135"/>
                  </a:lnTo>
                  <a:lnTo>
                    <a:pt x="0" y="3613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5773" cy="6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020789" y="7031930"/>
            <a:ext cx="371813" cy="297933"/>
            <a:chOff x="0" y="0"/>
            <a:chExt cx="69603" cy="557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603" cy="55773"/>
            </a:xfrm>
            <a:custGeom>
              <a:avLst/>
              <a:gdLst/>
              <a:ahLst/>
              <a:cxnLst/>
              <a:rect r="r" b="b" t="t" l="l"/>
              <a:pathLst>
                <a:path h="55773" w="69603">
                  <a:moveTo>
                    <a:pt x="0" y="0"/>
                  </a:moveTo>
                  <a:lnTo>
                    <a:pt x="69603" y="0"/>
                  </a:lnTo>
                  <a:lnTo>
                    <a:pt x="69603" y="55773"/>
                  </a:lnTo>
                  <a:lnTo>
                    <a:pt x="0" y="5577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69603" cy="8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854608" y="2000282"/>
            <a:ext cx="14226380" cy="138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62"/>
              </a:lnSpc>
              <a:spcBef>
                <a:spcPct val="0"/>
              </a:spcBef>
            </a:pPr>
            <a:r>
              <a:rPr lang="en-US" sz="8115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Securing Exam Paper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84373" y="4509262"/>
            <a:ext cx="10987323" cy="258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9"/>
              </a:lnSpc>
              <a:spcBef>
                <a:spcPct val="0"/>
              </a:spcBef>
            </a:pPr>
            <a:r>
              <a:rPr lang="en-US" sz="7406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Transmission in Academic Institutions</a:t>
            </a:r>
          </a:p>
        </p:txBody>
      </p:sp>
      <p:sp>
        <p:nvSpPr>
          <p:cNvPr name="Freeform 35" id="35"/>
          <p:cNvSpPr/>
          <p:nvPr/>
        </p:nvSpPr>
        <p:spPr>
          <a:xfrm flipH="true" flipV="false" rot="0">
            <a:off x="14214089" y="7929856"/>
            <a:ext cx="474785" cy="555304"/>
          </a:xfrm>
          <a:custGeom>
            <a:avLst/>
            <a:gdLst/>
            <a:ahLst/>
            <a:cxnLst/>
            <a:rect r="r" b="b" t="t" l="l"/>
            <a:pathLst>
              <a:path h="555304" w="474785">
                <a:moveTo>
                  <a:pt x="474785" y="0"/>
                </a:moveTo>
                <a:lnTo>
                  <a:pt x="0" y="0"/>
                </a:lnTo>
                <a:lnTo>
                  <a:pt x="0" y="555304"/>
                </a:lnTo>
                <a:lnTo>
                  <a:pt x="474785" y="555304"/>
                </a:lnTo>
                <a:lnTo>
                  <a:pt x="47478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10248" y="1884472"/>
            <a:ext cx="9882069" cy="375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2697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I</a:t>
            </a:r>
            <a:r>
              <a:rPr lang="en-US" sz="2697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n our current world we use i.e the colleges and the institutions use:</a:t>
            </a:r>
          </a:p>
          <a:p>
            <a:pPr algn="l" marL="582348" indent="-291174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RSA(fro key exchange)</a:t>
            </a:r>
          </a:p>
          <a:p>
            <a:pPr algn="l" marL="582348" indent="-291174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AES(for evcryption)</a:t>
            </a:r>
          </a:p>
          <a:p>
            <a:pPr algn="l" marL="582348" indent="-291174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HTTPS/VPN-bnased secure transfer</a:t>
            </a:r>
          </a:p>
          <a:p>
            <a:pPr algn="l">
              <a:lnSpc>
                <a:spcPts val="3776"/>
              </a:lnSpc>
            </a:pPr>
            <a:r>
              <a:rPr lang="en-US" sz="2697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These all rely on </a:t>
            </a:r>
            <a:r>
              <a:rPr lang="en-US" sz="2697" b="true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CLASSICAL CRYTOGRAPHY</a:t>
            </a:r>
          </a:p>
          <a:p>
            <a:pPr algn="l">
              <a:lnSpc>
                <a:spcPts val="3776"/>
              </a:lnSpc>
            </a:pPr>
            <a:r>
              <a:rPr lang="en-US" sz="2697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But nonethless security is based on:</a:t>
            </a:r>
          </a:p>
          <a:p>
            <a:pPr algn="l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2697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Mathematical hardness assumptions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63191" y="339808"/>
            <a:ext cx="1055949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I</a:t>
            </a:r>
            <a:r>
              <a:rPr lang="en-US" sz="27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n</a:t>
            </a:r>
            <a:r>
              <a:rPr lang="en-US" sz="27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 todays world there a big questio</a:t>
            </a:r>
            <a:r>
              <a:rPr lang="en-US" sz="27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n about secuirty...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what if someone steals an exam paper..??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857997" y="1228183"/>
            <a:ext cx="7175828" cy="2501298"/>
            <a:chOff x="0" y="0"/>
            <a:chExt cx="1418224" cy="494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8224" cy="494354"/>
            </a:xfrm>
            <a:custGeom>
              <a:avLst/>
              <a:gdLst/>
              <a:ahLst/>
              <a:cxnLst/>
              <a:rect r="r" b="b" t="t" l="l"/>
              <a:pathLst>
                <a:path h="494354" w="1418224">
                  <a:moveTo>
                    <a:pt x="0" y="0"/>
                  </a:moveTo>
                  <a:lnTo>
                    <a:pt x="1418224" y="0"/>
                  </a:lnTo>
                  <a:lnTo>
                    <a:pt x="1418224" y="494354"/>
                  </a:lnTo>
                  <a:lnTo>
                    <a:pt x="0" y="494354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18224" cy="52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3919" y="2230883"/>
            <a:ext cx="506021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Statment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252012"/>
            <a:ext cx="506021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Problem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6945571" y="3979049"/>
            <a:ext cx="435239" cy="509052"/>
          </a:xfrm>
          <a:custGeom>
            <a:avLst/>
            <a:gdLst/>
            <a:ahLst/>
            <a:cxnLst/>
            <a:rect r="r" b="b" t="t" l="l"/>
            <a:pathLst>
              <a:path h="509052" w="435239">
                <a:moveTo>
                  <a:pt x="435240" y="0"/>
                </a:moveTo>
                <a:lnTo>
                  <a:pt x="0" y="0"/>
                </a:lnTo>
                <a:lnTo>
                  <a:pt x="0" y="509052"/>
                </a:lnTo>
                <a:lnTo>
                  <a:pt x="435240" y="509052"/>
                </a:lnTo>
                <a:lnTo>
                  <a:pt x="4352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229577" y="1139928"/>
            <a:ext cx="176510" cy="176510"/>
            <a:chOff x="0" y="0"/>
            <a:chExt cx="34885" cy="348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885" cy="34885"/>
            </a:xfrm>
            <a:custGeom>
              <a:avLst/>
              <a:gdLst/>
              <a:ahLst/>
              <a:cxnLst/>
              <a:rect r="r" b="b" t="t" l="l"/>
              <a:pathLst>
                <a:path h="34885" w="34885">
                  <a:moveTo>
                    <a:pt x="0" y="0"/>
                  </a:moveTo>
                  <a:lnTo>
                    <a:pt x="34885" y="0"/>
                  </a:lnTo>
                  <a:lnTo>
                    <a:pt x="34885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4885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29577" y="3641226"/>
            <a:ext cx="176510" cy="176510"/>
            <a:chOff x="0" y="0"/>
            <a:chExt cx="34885" cy="348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885" cy="34885"/>
            </a:xfrm>
            <a:custGeom>
              <a:avLst/>
              <a:gdLst/>
              <a:ahLst/>
              <a:cxnLst/>
              <a:rect r="r" b="b" t="t" l="l"/>
              <a:pathLst>
                <a:path h="34885" w="34885">
                  <a:moveTo>
                    <a:pt x="0" y="0"/>
                  </a:moveTo>
                  <a:lnTo>
                    <a:pt x="34885" y="0"/>
                  </a:lnTo>
                  <a:lnTo>
                    <a:pt x="34885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4885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70087" y="6116958"/>
            <a:ext cx="13480321" cy="286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2"/>
              </a:lnSpc>
            </a:pPr>
            <a:r>
              <a:rPr lang="en-US" sz="2751" b="true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Here, The Probleem arises such that</a:t>
            </a:r>
          </a:p>
          <a:p>
            <a:pPr algn="l" marL="594083" indent="-297042" lvl="1">
              <a:lnSpc>
                <a:spcPts val="3852"/>
              </a:lnSpc>
              <a:buFont typeface="Arial"/>
              <a:buChar char="•"/>
            </a:pPr>
            <a:r>
              <a:rPr lang="en-US" sz="2751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RSA can be broken by quantum computers using Shor’s algorithm.</a:t>
            </a:r>
          </a:p>
          <a:p>
            <a:pPr algn="l" marL="594083" indent="-297042" lvl="1">
              <a:lnSpc>
                <a:spcPts val="3852"/>
              </a:lnSpc>
              <a:buFont typeface="Arial"/>
              <a:buChar char="•"/>
            </a:pPr>
            <a:r>
              <a:rPr lang="en-US" sz="2751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No built-in eavesdropping detection is implemented.</a:t>
            </a:r>
          </a:p>
          <a:p>
            <a:pPr algn="l" marL="594083" indent="-297042" lvl="1">
              <a:lnSpc>
                <a:spcPts val="3852"/>
              </a:lnSpc>
              <a:buFont typeface="Arial"/>
              <a:buChar char="•"/>
            </a:pPr>
            <a:r>
              <a:rPr lang="en-US" sz="2751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If key is intercepted and then system does not know.</a:t>
            </a:r>
          </a:p>
          <a:p>
            <a:pPr algn="l" marL="594083" indent="-297042" lvl="1">
              <a:lnSpc>
                <a:spcPts val="3852"/>
              </a:lnSpc>
              <a:buFont typeface="Arial"/>
              <a:buChar char="•"/>
            </a:pPr>
            <a:r>
              <a:rPr lang="en-US" sz="2751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Insider or interception attacks are hard to detect.</a:t>
            </a:r>
          </a:p>
          <a:p>
            <a:pPr algn="l" marL="0" indent="0" lvl="0">
              <a:lnSpc>
                <a:spcPts val="38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7564" y="224399"/>
            <a:ext cx="6515683" cy="1137390"/>
            <a:chOff x="0" y="0"/>
            <a:chExt cx="1791560" cy="3127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1560" cy="312738"/>
            </a:xfrm>
            <a:custGeom>
              <a:avLst/>
              <a:gdLst/>
              <a:ahLst/>
              <a:cxnLst/>
              <a:rect r="r" b="b" t="t" l="l"/>
              <a:pathLst>
                <a:path h="312738" w="1791560">
                  <a:moveTo>
                    <a:pt x="0" y="0"/>
                  </a:moveTo>
                  <a:lnTo>
                    <a:pt x="1791560" y="0"/>
                  </a:lnTo>
                  <a:lnTo>
                    <a:pt x="1791560" y="312738"/>
                  </a:lnTo>
                  <a:lnTo>
                    <a:pt x="0" y="312738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791560" cy="341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35354" y="1551207"/>
            <a:ext cx="15313608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F0E0E"/>
                </a:solidFill>
                <a:latin typeface="Lilita One"/>
                <a:ea typeface="Lilita One"/>
                <a:cs typeface="Lilita One"/>
                <a:sym typeface="Lilita One"/>
              </a:rPr>
              <a:t>“We are not replacing classical security — </a:t>
            </a:r>
            <a:r>
              <a:rPr lang="en-US" sz="3699">
                <a:solidFill>
                  <a:srgbClr val="FE4100"/>
                </a:solidFill>
                <a:latin typeface="Lilita One"/>
                <a:ea typeface="Lilita One"/>
                <a:cs typeface="Lilita One"/>
                <a:sym typeface="Lilita One"/>
              </a:rPr>
              <a:t>we are strengthening it with quantum-aware key distribution”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64645" y="4988487"/>
            <a:ext cx="367037" cy="416268"/>
            <a:chOff x="0" y="0"/>
            <a:chExt cx="439553" cy="498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0" y="0"/>
                  </a:moveTo>
                  <a:lnTo>
                    <a:pt x="439553" y="0"/>
                  </a:lnTo>
                  <a:lnTo>
                    <a:pt x="439553" y="498510"/>
                  </a:lnTo>
                  <a:lnTo>
                    <a:pt x="0" y="498510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39553" cy="527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4645" y="4988487"/>
            <a:ext cx="367037" cy="416268"/>
            <a:chOff x="0" y="0"/>
            <a:chExt cx="439553" cy="49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219777" y="0"/>
                  </a:moveTo>
                  <a:cubicBezTo>
                    <a:pt x="98397" y="0"/>
                    <a:pt x="0" y="111595"/>
                    <a:pt x="0" y="249255"/>
                  </a:cubicBezTo>
                  <a:cubicBezTo>
                    <a:pt x="0" y="386915"/>
                    <a:pt x="98397" y="498510"/>
                    <a:pt x="219777" y="498510"/>
                  </a:cubicBezTo>
                  <a:cubicBezTo>
                    <a:pt x="341156" y="498510"/>
                    <a:pt x="439553" y="386915"/>
                    <a:pt x="439553" y="249255"/>
                  </a:cubicBezTo>
                  <a:cubicBezTo>
                    <a:pt x="439553" y="111595"/>
                    <a:pt x="341156" y="0"/>
                    <a:pt x="219777" y="0"/>
                  </a:cubicBezTo>
                  <a:close/>
                </a:path>
              </a:pathLst>
            </a:custGeom>
            <a:solidFill>
              <a:srgbClr val="FE41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41208" y="18160"/>
              <a:ext cx="357137" cy="43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4631" y="4978230"/>
            <a:ext cx="47625" cy="47625"/>
            <a:chOff x="0" y="0"/>
            <a:chExt cx="49671" cy="496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5600" y="4978230"/>
            <a:ext cx="47625" cy="47625"/>
            <a:chOff x="0" y="0"/>
            <a:chExt cx="49671" cy="49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55600" y="5394497"/>
            <a:ext cx="47625" cy="47625"/>
            <a:chOff x="0" y="0"/>
            <a:chExt cx="49671" cy="496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4631" y="5394497"/>
            <a:ext cx="47625" cy="47625"/>
            <a:chOff x="0" y="0"/>
            <a:chExt cx="49671" cy="49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49810" y="1298353"/>
            <a:ext cx="126873" cy="126873"/>
            <a:chOff x="0" y="0"/>
            <a:chExt cx="34885" cy="348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885" cy="34885"/>
            </a:xfrm>
            <a:custGeom>
              <a:avLst/>
              <a:gdLst/>
              <a:ahLst/>
              <a:cxnLst/>
              <a:rect r="r" b="b" t="t" l="l"/>
              <a:pathLst>
                <a:path h="34885" w="34885">
                  <a:moveTo>
                    <a:pt x="0" y="0"/>
                  </a:moveTo>
                  <a:lnTo>
                    <a:pt x="34885" y="0"/>
                  </a:lnTo>
                  <a:lnTo>
                    <a:pt x="34885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4885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49810" y="160962"/>
            <a:ext cx="126873" cy="126873"/>
            <a:chOff x="0" y="0"/>
            <a:chExt cx="34885" cy="348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885" cy="34885"/>
            </a:xfrm>
            <a:custGeom>
              <a:avLst/>
              <a:gdLst/>
              <a:ahLst/>
              <a:cxnLst/>
              <a:rect r="r" b="b" t="t" l="l"/>
              <a:pathLst>
                <a:path h="34885" w="34885">
                  <a:moveTo>
                    <a:pt x="0" y="0"/>
                  </a:moveTo>
                  <a:lnTo>
                    <a:pt x="34885" y="0"/>
                  </a:lnTo>
                  <a:lnTo>
                    <a:pt x="34885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4885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34127" y="160962"/>
            <a:ext cx="126873" cy="126873"/>
            <a:chOff x="0" y="0"/>
            <a:chExt cx="34885" cy="348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885" cy="34885"/>
            </a:xfrm>
            <a:custGeom>
              <a:avLst/>
              <a:gdLst/>
              <a:ahLst/>
              <a:cxnLst/>
              <a:rect r="r" b="b" t="t" l="l"/>
              <a:pathLst>
                <a:path h="34885" w="34885">
                  <a:moveTo>
                    <a:pt x="0" y="0"/>
                  </a:moveTo>
                  <a:lnTo>
                    <a:pt x="34885" y="0"/>
                  </a:lnTo>
                  <a:lnTo>
                    <a:pt x="34885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4885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34127" y="1298353"/>
            <a:ext cx="126873" cy="126873"/>
            <a:chOff x="0" y="0"/>
            <a:chExt cx="34885" cy="348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885" cy="34885"/>
            </a:xfrm>
            <a:custGeom>
              <a:avLst/>
              <a:gdLst/>
              <a:ahLst/>
              <a:cxnLst/>
              <a:rect r="r" b="b" t="t" l="l"/>
              <a:pathLst>
                <a:path h="34885" w="34885">
                  <a:moveTo>
                    <a:pt x="0" y="0"/>
                  </a:moveTo>
                  <a:lnTo>
                    <a:pt x="34885" y="0"/>
                  </a:lnTo>
                  <a:lnTo>
                    <a:pt x="34885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4885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true" flipV="false" rot="0">
            <a:off x="16583184" y="2356975"/>
            <a:ext cx="435239" cy="509052"/>
          </a:xfrm>
          <a:custGeom>
            <a:avLst/>
            <a:gdLst/>
            <a:ahLst/>
            <a:cxnLst/>
            <a:rect r="r" b="b" t="t" l="l"/>
            <a:pathLst>
              <a:path h="509052" w="435239">
                <a:moveTo>
                  <a:pt x="435240" y="0"/>
                </a:moveTo>
                <a:lnTo>
                  <a:pt x="0" y="0"/>
                </a:lnTo>
                <a:lnTo>
                  <a:pt x="0" y="509051"/>
                </a:lnTo>
                <a:lnTo>
                  <a:pt x="435240" y="509051"/>
                </a:lnTo>
                <a:lnTo>
                  <a:pt x="4352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61000" y="22050"/>
            <a:ext cx="6642662" cy="14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2"/>
              </a:lnSpc>
              <a:spcBef>
                <a:spcPct val="0"/>
              </a:spcBef>
            </a:pPr>
            <a:r>
              <a:rPr lang="en-US" sz="8173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Objectives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4127" y="3169291"/>
            <a:ext cx="1793591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To design and evaluate a </a:t>
            </a:r>
            <a:r>
              <a:rPr lang="en-US" sz="35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quantum-based </a:t>
            </a:r>
            <a:r>
              <a:rPr lang="en-US" sz="35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35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ecure key distribution system</a:t>
            </a:r>
            <a:r>
              <a:rPr lang="en-US" sz="35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 for </a:t>
            </a:r>
            <a:r>
              <a:rPr lang="en-US" sz="35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protecting exam paper transmission</a:t>
            </a:r>
            <a:r>
              <a:rPr lang="en-US" sz="35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 in </a:t>
            </a:r>
            <a:r>
              <a:rPr lang="en-US" sz="35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academic institutions.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64645" y="5790046"/>
            <a:ext cx="367037" cy="416268"/>
            <a:chOff x="0" y="0"/>
            <a:chExt cx="439553" cy="4985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0" y="0"/>
                  </a:moveTo>
                  <a:lnTo>
                    <a:pt x="439553" y="0"/>
                  </a:lnTo>
                  <a:lnTo>
                    <a:pt x="439553" y="498510"/>
                  </a:lnTo>
                  <a:lnTo>
                    <a:pt x="0" y="498510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439553" cy="527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64645" y="5790046"/>
            <a:ext cx="367037" cy="416268"/>
            <a:chOff x="0" y="0"/>
            <a:chExt cx="439553" cy="4985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219777" y="0"/>
                  </a:moveTo>
                  <a:cubicBezTo>
                    <a:pt x="98397" y="0"/>
                    <a:pt x="0" y="111595"/>
                    <a:pt x="0" y="249255"/>
                  </a:cubicBezTo>
                  <a:cubicBezTo>
                    <a:pt x="0" y="386915"/>
                    <a:pt x="98397" y="498510"/>
                    <a:pt x="219777" y="498510"/>
                  </a:cubicBezTo>
                  <a:cubicBezTo>
                    <a:pt x="341156" y="498510"/>
                    <a:pt x="439553" y="386915"/>
                    <a:pt x="439553" y="249255"/>
                  </a:cubicBezTo>
                  <a:cubicBezTo>
                    <a:pt x="439553" y="111595"/>
                    <a:pt x="341156" y="0"/>
                    <a:pt x="219777" y="0"/>
                  </a:cubicBezTo>
                  <a:close/>
                </a:path>
              </a:pathLst>
            </a:custGeom>
            <a:solidFill>
              <a:srgbClr val="FE41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41208" y="18160"/>
              <a:ext cx="357137" cy="43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4631" y="5779789"/>
            <a:ext cx="47625" cy="47625"/>
            <a:chOff x="0" y="0"/>
            <a:chExt cx="49671" cy="496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55600" y="5779789"/>
            <a:ext cx="47625" cy="47625"/>
            <a:chOff x="0" y="0"/>
            <a:chExt cx="49671" cy="496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55600" y="6196057"/>
            <a:ext cx="47625" cy="47625"/>
            <a:chOff x="0" y="0"/>
            <a:chExt cx="49671" cy="496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14631" y="6196057"/>
            <a:ext cx="47625" cy="47625"/>
            <a:chOff x="0" y="0"/>
            <a:chExt cx="49671" cy="496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79413" y="6634939"/>
            <a:ext cx="367037" cy="416268"/>
            <a:chOff x="0" y="0"/>
            <a:chExt cx="439553" cy="4985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0" y="0"/>
                  </a:moveTo>
                  <a:lnTo>
                    <a:pt x="439553" y="0"/>
                  </a:lnTo>
                  <a:lnTo>
                    <a:pt x="439553" y="498510"/>
                  </a:lnTo>
                  <a:lnTo>
                    <a:pt x="0" y="498510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439553" cy="527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79413" y="6634939"/>
            <a:ext cx="367037" cy="416268"/>
            <a:chOff x="0" y="0"/>
            <a:chExt cx="439553" cy="49851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219777" y="0"/>
                  </a:moveTo>
                  <a:cubicBezTo>
                    <a:pt x="98397" y="0"/>
                    <a:pt x="0" y="111595"/>
                    <a:pt x="0" y="249255"/>
                  </a:cubicBezTo>
                  <a:cubicBezTo>
                    <a:pt x="0" y="386915"/>
                    <a:pt x="98397" y="498510"/>
                    <a:pt x="219777" y="498510"/>
                  </a:cubicBezTo>
                  <a:cubicBezTo>
                    <a:pt x="341156" y="498510"/>
                    <a:pt x="439553" y="386915"/>
                    <a:pt x="439553" y="249255"/>
                  </a:cubicBezTo>
                  <a:cubicBezTo>
                    <a:pt x="439553" y="111595"/>
                    <a:pt x="341156" y="0"/>
                    <a:pt x="219777" y="0"/>
                  </a:cubicBezTo>
                  <a:close/>
                </a:path>
              </a:pathLst>
            </a:custGeom>
            <a:solidFill>
              <a:srgbClr val="FE41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41208" y="18160"/>
              <a:ext cx="357137" cy="43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9400" y="6624682"/>
            <a:ext cx="47625" cy="47625"/>
            <a:chOff x="0" y="0"/>
            <a:chExt cx="49671" cy="496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70369" y="6624682"/>
            <a:ext cx="47625" cy="47625"/>
            <a:chOff x="0" y="0"/>
            <a:chExt cx="49671" cy="496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70369" y="7040949"/>
            <a:ext cx="47625" cy="47625"/>
            <a:chOff x="0" y="0"/>
            <a:chExt cx="49671" cy="496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9400" y="7040949"/>
            <a:ext cx="47625" cy="47625"/>
            <a:chOff x="0" y="0"/>
            <a:chExt cx="49671" cy="496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037744" y="4893478"/>
            <a:ext cx="179359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Implement the BB84 protocol for secure key generation.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76581" y="5681707"/>
            <a:ext cx="179359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Simulate quantum key exchange using Qiskit.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91350" y="6574224"/>
            <a:ext cx="1679763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Measure and evaluate security performance using Quantum Bit Error Rate (QBER).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501504" y="7536981"/>
            <a:ext cx="367037" cy="416268"/>
            <a:chOff x="0" y="0"/>
            <a:chExt cx="439553" cy="49851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0" y="0"/>
                  </a:moveTo>
                  <a:lnTo>
                    <a:pt x="439553" y="0"/>
                  </a:lnTo>
                  <a:lnTo>
                    <a:pt x="439553" y="498510"/>
                  </a:lnTo>
                  <a:lnTo>
                    <a:pt x="0" y="498510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439553" cy="527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01504" y="7536981"/>
            <a:ext cx="367037" cy="416268"/>
            <a:chOff x="0" y="0"/>
            <a:chExt cx="439553" cy="49851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219777" y="0"/>
                  </a:moveTo>
                  <a:cubicBezTo>
                    <a:pt x="98397" y="0"/>
                    <a:pt x="0" y="111595"/>
                    <a:pt x="0" y="249255"/>
                  </a:cubicBezTo>
                  <a:cubicBezTo>
                    <a:pt x="0" y="386915"/>
                    <a:pt x="98397" y="498510"/>
                    <a:pt x="219777" y="498510"/>
                  </a:cubicBezTo>
                  <a:cubicBezTo>
                    <a:pt x="341156" y="498510"/>
                    <a:pt x="439553" y="386915"/>
                    <a:pt x="439553" y="249255"/>
                  </a:cubicBezTo>
                  <a:cubicBezTo>
                    <a:pt x="439553" y="111595"/>
                    <a:pt x="341156" y="0"/>
                    <a:pt x="219777" y="0"/>
                  </a:cubicBezTo>
                  <a:close/>
                </a:path>
              </a:pathLst>
            </a:custGeom>
            <a:solidFill>
              <a:srgbClr val="FE4100"/>
            </a:solidFill>
            <a:ln cap="sq">
              <a:noFill/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41208" y="18160"/>
              <a:ext cx="357137" cy="43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51491" y="7526724"/>
            <a:ext cx="47625" cy="47625"/>
            <a:chOff x="0" y="0"/>
            <a:chExt cx="49671" cy="4967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492460" y="7526724"/>
            <a:ext cx="47625" cy="47625"/>
            <a:chOff x="0" y="0"/>
            <a:chExt cx="49671" cy="4967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492460" y="7942992"/>
            <a:ext cx="47625" cy="47625"/>
            <a:chOff x="0" y="0"/>
            <a:chExt cx="49671" cy="4967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51491" y="7942992"/>
            <a:ext cx="47625" cy="47625"/>
            <a:chOff x="0" y="0"/>
            <a:chExt cx="49671" cy="4967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88457" y="8555427"/>
            <a:ext cx="367037" cy="416268"/>
            <a:chOff x="0" y="0"/>
            <a:chExt cx="439553" cy="49851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0" y="0"/>
                  </a:moveTo>
                  <a:lnTo>
                    <a:pt x="439553" y="0"/>
                  </a:lnTo>
                  <a:lnTo>
                    <a:pt x="439553" y="498510"/>
                  </a:lnTo>
                  <a:lnTo>
                    <a:pt x="0" y="498510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439553" cy="527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88457" y="8555427"/>
            <a:ext cx="367037" cy="416268"/>
            <a:chOff x="0" y="0"/>
            <a:chExt cx="439553" cy="49851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39553" cy="498510"/>
            </a:xfrm>
            <a:custGeom>
              <a:avLst/>
              <a:gdLst/>
              <a:ahLst/>
              <a:cxnLst/>
              <a:rect r="r" b="b" t="t" l="l"/>
              <a:pathLst>
                <a:path h="498510" w="439553">
                  <a:moveTo>
                    <a:pt x="219777" y="0"/>
                  </a:moveTo>
                  <a:cubicBezTo>
                    <a:pt x="98397" y="0"/>
                    <a:pt x="0" y="111595"/>
                    <a:pt x="0" y="249255"/>
                  </a:cubicBezTo>
                  <a:cubicBezTo>
                    <a:pt x="0" y="386915"/>
                    <a:pt x="98397" y="498510"/>
                    <a:pt x="219777" y="498510"/>
                  </a:cubicBezTo>
                  <a:cubicBezTo>
                    <a:pt x="341156" y="498510"/>
                    <a:pt x="439553" y="386915"/>
                    <a:pt x="439553" y="249255"/>
                  </a:cubicBezTo>
                  <a:cubicBezTo>
                    <a:pt x="439553" y="111595"/>
                    <a:pt x="341156" y="0"/>
                    <a:pt x="219777" y="0"/>
                  </a:cubicBezTo>
                  <a:close/>
                </a:path>
              </a:pathLst>
            </a:custGeom>
            <a:solidFill>
              <a:srgbClr val="FE41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41208" y="18160"/>
              <a:ext cx="357137" cy="43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38444" y="8545170"/>
            <a:ext cx="47625" cy="47625"/>
            <a:chOff x="0" y="0"/>
            <a:chExt cx="49671" cy="4967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479413" y="8545170"/>
            <a:ext cx="47625" cy="47625"/>
            <a:chOff x="0" y="0"/>
            <a:chExt cx="49671" cy="4967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479413" y="8961437"/>
            <a:ext cx="47625" cy="47625"/>
            <a:chOff x="0" y="0"/>
            <a:chExt cx="49671" cy="4967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838444" y="8961437"/>
            <a:ext cx="47625" cy="47625"/>
            <a:chOff x="0" y="0"/>
            <a:chExt cx="49671" cy="4967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9671" cy="49671"/>
            </a:xfrm>
            <a:custGeom>
              <a:avLst/>
              <a:gdLst/>
              <a:ahLst/>
              <a:cxnLst/>
              <a:rect r="r" b="b" t="t" l="l"/>
              <a:pathLst>
                <a:path h="49671" w="49671">
                  <a:moveTo>
                    <a:pt x="0" y="0"/>
                  </a:moveTo>
                  <a:lnTo>
                    <a:pt x="49671" y="0"/>
                  </a:lnTo>
                  <a:lnTo>
                    <a:pt x="49671" y="49671"/>
                  </a:lnTo>
                  <a:lnTo>
                    <a:pt x="0" y="4967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49671" cy="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1165816" y="7493387"/>
            <a:ext cx="1679763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Compare classical key distribution with quantum key distribution.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00394" y="8445887"/>
            <a:ext cx="1679763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Develop a hybrid model integrating quantum key distribution with AES encryption.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355753" y="2015178"/>
            <a:ext cx="462065" cy="540427"/>
          </a:xfrm>
          <a:custGeom>
            <a:avLst/>
            <a:gdLst/>
            <a:ahLst/>
            <a:cxnLst/>
            <a:rect r="r" b="b" t="t" l="l"/>
            <a:pathLst>
              <a:path h="540427" w="462065">
                <a:moveTo>
                  <a:pt x="462065" y="0"/>
                </a:moveTo>
                <a:lnTo>
                  <a:pt x="0" y="0"/>
                </a:lnTo>
                <a:lnTo>
                  <a:pt x="0" y="540427"/>
                </a:lnTo>
                <a:lnTo>
                  <a:pt x="462065" y="540427"/>
                </a:lnTo>
                <a:lnTo>
                  <a:pt x="46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1947" y="3175651"/>
            <a:ext cx="6137673" cy="1415516"/>
            <a:chOff x="0" y="0"/>
            <a:chExt cx="1616506" cy="3728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6506" cy="372811"/>
            </a:xfrm>
            <a:custGeom>
              <a:avLst/>
              <a:gdLst/>
              <a:ahLst/>
              <a:cxnLst/>
              <a:rect r="r" b="b" t="t" l="l"/>
              <a:pathLst>
                <a:path h="372811" w="1616506">
                  <a:moveTo>
                    <a:pt x="12614" y="0"/>
                  </a:moveTo>
                  <a:lnTo>
                    <a:pt x="1603893" y="0"/>
                  </a:lnTo>
                  <a:cubicBezTo>
                    <a:pt x="1610859" y="0"/>
                    <a:pt x="1616506" y="5647"/>
                    <a:pt x="1616506" y="12614"/>
                  </a:cubicBezTo>
                  <a:lnTo>
                    <a:pt x="1616506" y="360197"/>
                  </a:lnTo>
                  <a:cubicBezTo>
                    <a:pt x="1616506" y="363542"/>
                    <a:pt x="1615178" y="366751"/>
                    <a:pt x="1612812" y="369116"/>
                  </a:cubicBezTo>
                  <a:cubicBezTo>
                    <a:pt x="1610446" y="371482"/>
                    <a:pt x="1607238" y="372811"/>
                    <a:pt x="1603893" y="372811"/>
                  </a:cubicBezTo>
                  <a:lnTo>
                    <a:pt x="12614" y="372811"/>
                  </a:lnTo>
                  <a:cubicBezTo>
                    <a:pt x="9268" y="372811"/>
                    <a:pt x="6060" y="371482"/>
                    <a:pt x="3694" y="369116"/>
                  </a:cubicBezTo>
                  <a:cubicBezTo>
                    <a:pt x="1329" y="366751"/>
                    <a:pt x="0" y="363542"/>
                    <a:pt x="0" y="360197"/>
                  </a:cubicBezTo>
                  <a:lnTo>
                    <a:pt x="0" y="12614"/>
                  </a:lnTo>
                  <a:cubicBezTo>
                    <a:pt x="0" y="9268"/>
                    <a:pt x="1329" y="6060"/>
                    <a:pt x="3694" y="3694"/>
                  </a:cubicBezTo>
                  <a:cubicBezTo>
                    <a:pt x="6060" y="1329"/>
                    <a:pt x="9268" y="0"/>
                    <a:pt x="12614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6506" cy="410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F0E0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Limitation: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 • No </a:t>
              </a:r>
              <a:r>
                <a:rPr lang="en-US" sz="22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intrusion detection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 • Depends on computational security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7432" y="8938858"/>
            <a:ext cx="13104375" cy="1270431"/>
            <a:chOff x="0" y="0"/>
            <a:chExt cx="3451358" cy="3345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51358" cy="334599"/>
            </a:xfrm>
            <a:custGeom>
              <a:avLst/>
              <a:gdLst/>
              <a:ahLst/>
              <a:cxnLst/>
              <a:rect r="r" b="b" t="t" l="l"/>
              <a:pathLst>
                <a:path h="334599" w="3451358">
                  <a:moveTo>
                    <a:pt x="5908" y="0"/>
                  </a:moveTo>
                  <a:lnTo>
                    <a:pt x="3445450" y="0"/>
                  </a:lnTo>
                  <a:cubicBezTo>
                    <a:pt x="3447017" y="0"/>
                    <a:pt x="3448520" y="622"/>
                    <a:pt x="3449627" y="1730"/>
                  </a:cubicBezTo>
                  <a:cubicBezTo>
                    <a:pt x="3450735" y="2838"/>
                    <a:pt x="3451358" y="4341"/>
                    <a:pt x="3451358" y="5908"/>
                  </a:cubicBezTo>
                  <a:lnTo>
                    <a:pt x="3451358" y="328691"/>
                  </a:lnTo>
                  <a:cubicBezTo>
                    <a:pt x="3451358" y="330258"/>
                    <a:pt x="3450735" y="331761"/>
                    <a:pt x="3449627" y="332869"/>
                  </a:cubicBezTo>
                  <a:cubicBezTo>
                    <a:pt x="3448520" y="333977"/>
                    <a:pt x="3447017" y="334599"/>
                    <a:pt x="3445450" y="334599"/>
                  </a:cubicBezTo>
                  <a:lnTo>
                    <a:pt x="5908" y="334599"/>
                  </a:lnTo>
                  <a:cubicBezTo>
                    <a:pt x="4341" y="334599"/>
                    <a:pt x="2838" y="333977"/>
                    <a:pt x="1730" y="332869"/>
                  </a:cubicBezTo>
                  <a:cubicBezTo>
                    <a:pt x="622" y="331761"/>
                    <a:pt x="0" y="330258"/>
                    <a:pt x="0" y="328691"/>
                  </a:cubicBezTo>
                  <a:lnTo>
                    <a:pt x="0" y="5908"/>
                  </a:lnTo>
                  <a:cubicBezTo>
                    <a:pt x="0" y="4341"/>
                    <a:pt x="622" y="2838"/>
                    <a:pt x="1730" y="1730"/>
                  </a:cubicBezTo>
                  <a:cubicBezTo>
                    <a:pt x="2838" y="622"/>
                    <a:pt x="4341" y="0"/>
                    <a:pt x="5908" y="0"/>
                  </a:cubicBezTo>
                  <a:close/>
                </a:path>
              </a:pathLst>
            </a:custGeom>
            <a:ln w="190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451358" cy="39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059"/>
                </a:lnSpc>
              </a:pPr>
              <a:r>
                <a:rPr lang="en-US" sz="2899" b="true">
                  <a:solidFill>
                    <a:srgbClr val="0F0E0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Final Step – </a:t>
              </a:r>
              <a:r>
                <a:rPr lang="en-US" sz="2899" b="true">
                  <a:solidFill>
                    <a:srgbClr val="FE4100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Hybrid Integration</a:t>
              </a:r>
            </a:p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Generated quantum key → Used in AES encryption for exam paper file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1947" y="5647653"/>
            <a:ext cx="9926294" cy="2853055"/>
            <a:chOff x="0" y="0"/>
            <a:chExt cx="2614333" cy="7514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14333" cy="751422"/>
            </a:xfrm>
            <a:custGeom>
              <a:avLst/>
              <a:gdLst/>
              <a:ahLst/>
              <a:cxnLst/>
              <a:rect r="r" b="b" t="t" l="l"/>
              <a:pathLst>
                <a:path h="751422" w="2614333">
                  <a:moveTo>
                    <a:pt x="7799" y="0"/>
                  </a:moveTo>
                  <a:lnTo>
                    <a:pt x="2606533" y="0"/>
                  </a:lnTo>
                  <a:cubicBezTo>
                    <a:pt x="2608602" y="0"/>
                    <a:pt x="2610586" y="822"/>
                    <a:pt x="2612048" y="2284"/>
                  </a:cubicBezTo>
                  <a:cubicBezTo>
                    <a:pt x="2613511" y="3747"/>
                    <a:pt x="2614333" y="5731"/>
                    <a:pt x="2614333" y="7799"/>
                  </a:cubicBezTo>
                  <a:lnTo>
                    <a:pt x="2614333" y="743622"/>
                  </a:lnTo>
                  <a:cubicBezTo>
                    <a:pt x="2614333" y="745691"/>
                    <a:pt x="2613511" y="747675"/>
                    <a:pt x="2612048" y="749137"/>
                  </a:cubicBezTo>
                  <a:cubicBezTo>
                    <a:pt x="2610586" y="750600"/>
                    <a:pt x="2608602" y="751422"/>
                    <a:pt x="2606533" y="751422"/>
                  </a:cubicBezTo>
                  <a:lnTo>
                    <a:pt x="7799" y="751422"/>
                  </a:lnTo>
                  <a:cubicBezTo>
                    <a:pt x="5731" y="751422"/>
                    <a:pt x="3747" y="750600"/>
                    <a:pt x="2284" y="749137"/>
                  </a:cubicBezTo>
                  <a:cubicBezTo>
                    <a:pt x="822" y="747675"/>
                    <a:pt x="0" y="745691"/>
                    <a:pt x="0" y="743622"/>
                  </a:cubicBezTo>
                  <a:lnTo>
                    <a:pt x="0" y="7799"/>
                  </a:lnTo>
                  <a:cubicBezTo>
                    <a:pt x="0" y="5731"/>
                    <a:pt x="822" y="3747"/>
                    <a:pt x="2284" y="2284"/>
                  </a:cubicBezTo>
                  <a:cubicBezTo>
                    <a:pt x="3747" y="822"/>
                    <a:pt x="5731" y="0"/>
                    <a:pt x="7799" y="0"/>
                  </a:cubicBezTo>
                  <a:close/>
                </a:path>
              </a:pathLst>
            </a:custGeom>
            <a:ln w="19050" cap="sq">
              <a:solidFill>
                <a:srgbClr val="FE41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614333" cy="799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F0E0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Workflow: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Alice encodes random bits using random bases (Z/X)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Qubits transmitted through simulated noisy channel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Bob measures using random bases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Basis reconciliation (keep matching bits)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Compute QBER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67721" y="5032237"/>
            <a:ext cx="2776063" cy="615416"/>
            <a:chOff x="0" y="0"/>
            <a:chExt cx="731144" cy="1620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144" cy="162085"/>
            </a:xfrm>
            <a:custGeom>
              <a:avLst/>
              <a:gdLst/>
              <a:ahLst/>
              <a:cxnLst/>
              <a:rect r="r" b="b" t="t" l="l"/>
              <a:pathLst>
                <a:path h="162085" w="731144">
                  <a:moveTo>
                    <a:pt x="27888" y="0"/>
                  </a:moveTo>
                  <a:lnTo>
                    <a:pt x="703256" y="0"/>
                  </a:lnTo>
                  <a:cubicBezTo>
                    <a:pt x="718658" y="0"/>
                    <a:pt x="731144" y="12486"/>
                    <a:pt x="731144" y="27888"/>
                  </a:cubicBezTo>
                  <a:lnTo>
                    <a:pt x="731144" y="134197"/>
                  </a:lnTo>
                  <a:cubicBezTo>
                    <a:pt x="731144" y="149599"/>
                    <a:pt x="718658" y="162085"/>
                    <a:pt x="703256" y="162085"/>
                  </a:cubicBezTo>
                  <a:lnTo>
                    <a:pt x="27888" y="162085"/>
                  </a:lnTo>
                  <a:cubicBezTo>
                    <a:pt x="12486" y="162085"/>
                    <a:pt x="0" y="149599"/>
                    <a:pt x="0" y="134197"/>
                  </a:cubicBezTo>
                  <a:lnTo>
                    <a:pt x="0" y="27888"/>
                  </a:lnTo>
                  <a:cubicBezTo>
                    <a:pt x="0" y="12486"/>
                    <a:pt x="12486" y="0"/>
                    <a:pt x="27888" y="0"/>
                  </a:cubicBezTo>
                  <a:close/>
                </a:path>
              </a:pathLst>
            </a:custGeom>
            <a:ln w="19050" cap="sq">
              <a:solidFill>
                <a:srgbClr val="FE41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31144" cy="200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Tools Used: </a:t>
              </a:r>
              <a:r>
                <a:rPr lang="en-US" sz="22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Qiskit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42765" y="5847678"/>
            <a:ext cx="4732685" cy="1724086"/>
            <a:chOff x="0" y="0"/>
            <a:chExt cx="1246468" cy="454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6468" cy="454080"/>
            </a:xfrm>
            <a:custGeom>
              <a:avLst/>
              <a:gdLst/>
              <a:ahLst/>
              <a:cxnLst/>
              <a:rect r="r" b="b" t="t" l="l"/>
              <a:pathLst>
                <a:path h="454080" w="1246468">
                  <a:moveTo>
                    <a:pt x="16358" y="0"/>
                  </a:moveTo>
                  <a:lnTo>
                    <a:pt x="1230110" y="0"/>
                  </a:lnTo>
                  <a:cubicBezTo>
                    <a:pt x="1239145" y="0"/>
                    <a:pt x="1246468" y="7324"/>
                    <a:pt x="1246468" y="16358"/>
                  </a:cubicBezTo>
                  <a:lnTo>
                    <a:pt x="1246468" y="437722"/>
                  </a:lnTo>
                  <a:cubicBezTo>
                    <a:pt x="1246468" y="446756"/>
                    <a:pt x="1239145" y="454080"/>
                    <a:pt x="1230110" y="454080"/>
                  </a:cubicBezTo>
                  <a:lnTo>
                    <a:pt x="16358" y="454080"/>
                  </a:lnTo>
                  <a:cubicBezTo>
                    <a:pt x="7324" y="454080"/>
                    <a:pt x="0" y="446756"/>
                    <a:pt x="0" y="437722"/>
                  </a:cubicBezTo>
                  <a:lnTo>
                    <a:pt x="0" y="16358"/>
                  </a:lnTo>
                  <a:cubicBezTo>
                    <a:pt x="0" y="7324"/>
                    <a:pt x="7324" y="0"/>
                    <a:pt x="16358" y="0"/>
                  </a:cubicBezTo>
                  <a:close/>
                </a:path>
              </a:pathLst>
            </a:custGeom>
            <a:ln w="190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46468" cy="492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972451" y="7571764"/>
            <a:ext cx="3537250" cy="1481965"/>
            <a:chOff x="0" y="0"/>
            <a:chExt cx="931621" cy="3903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1621" cy="390312"/>
            </a:xfrm>
            <a:custGeom>
              <a:avLst/>
              <a:gdLst/>
              <a:ahLst/>
              <a:cxnLst/>
              <a:rect r="r" b="b" t="t" l="l"/>
              <a:pathLst>
                <a:path h="390312" w="931621">
                  <a:moveTo>
                    <a:pt x="21887" y="0"/>
                  </a:moveTo>
                  <a:lnTo>
                    <a:pt x="909735" y="0"/>
                  </a:lnTo>
                  <a:cubicBezTo>
                    <a:pt x="915539" y="0"/>
                    <a:pt x="921106" y="2306"/>
                    <a:pt x="925211" y="6411"/>
                  </a:cubicBezTo>
                  <a:cubicBezTo>
                    <a:pt x="929315" y="10515"/>
                    <a:pt x="931621" y="16082"/>
                    <a:pt x="931621" y="21887"/>
                  </a:cubicBezTo>
                  <a:lnTo>
                    <a:pt x="931621" y="368425"/>
                  </a:lnTo>
                  <a:cubicBezTo>
                    <a:pt x="931621" y="374230"/>
                    <a:pt x="929315" y="379797"/>
                    <a:pt x="925211" y="383901"/>
                  </a:cubicBezTo>
                  <a:cubicBezTo>
                    <a:pt x="921106" y="388006"/>
                    <a:pt x="915539" y="390312"/>
                    <a:pt x="909735" y="390312"/>
                  </a:cubicBezTo>
                  <a:lnTo>
                    <a:pt x="21887" y="390312"/>
                  </a:lnTo>
                  <a:cubicBezTo>
                    <a:pt x="16082" y="390312"/>
                    <a:pt x="10515" y="388006"/>
                    <a:pt x="6411" y="383901"/>
                  </a:cubicBezTo>
                  <a:cubicBezTo>
                    <a:pt x="2306" y="379797"/>
                    <a:pt x="0" y="374230"/>
                    <a:pt x="0" y="368425"/>
                  </a:cubicBezTo>
                  <a:lnTo>
                    <a:pt x="0" y="21887"/>
                  </a:lnTo>
                  <a:cubicBezTo>
                    <a:pt x="0" y="16082"/>
                    <a:pt x="2306" y="10515"/>
                    <a:pt x="6411" y="6411"/>
                  </a:cubicBezTo>
                  <a:cubicBezTo>
                    <a:pt x="10515" y="2306"/>
                    <a:pt x="16082" y="0"/>
                    <a:pt x="21887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31621" cy="428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39"/>
                </a:lnSpc>
              </a:pPr>
              <a:r>
                <a:rPr lang="en-US" sz="2099" b="true">
                  <a:solidFill>
                    <a:srgbClr val="0F0E0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• Low QBER → Secure</a:t>
              </a:r>
            </a:p>
            <a:p>
              <a:pPr algn="l">
                <a:lnSpc>
                  <a:spcPts val="2939"/>
                </a:lnSpc>
              </a:pPr>
              <a:r>
                <a:rPr lang="en-US" sz="2099" b="true">
                  <a:solidFill>
                    <a:srgbClr val="0F0E0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 • High QBER → Intrusion detected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32369" y="1930795"/>
            <a:ext cx="4894089" cy="709192"/>
            <a:chOff x="0" y="0"/>
            <a:chExt cx="1288978" cy="1867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8978" cy="186783"/>
            </a:xfrm>
            <a:custGeom>
              <a:avLst/>
              <a:gdLst/>
              <a:ahLst/>
              <a:cxnLst/>
              <a:rect r="r" b="b" t="t" l="l"/>
              <a:pathLst>
                <a:path h="186783" w="1288978">
                  <a:moveTo>
                    <a:pt x="15819" y="0"/>
                  </a:moveTo>
                  <a:lnTo>
                    <a:pt x="1273159" y="0"/>
                  </a:lnTo>
                  <a:cubicBezTo>
                    <a:pt x="1277355" y="0"/>
                    <a:pt x="1281378" y="1667"/>
                    <a:pt x="1284345" y="4633"/>
                  </a:cubicBezTo>
                  <a:cubicBezTo>
                    <a:pt x="1287312" y="7600"/>
                    <a:pt x="1288978" y="11623"/>
                    <a:pt x="1288978" y="15819"/>
                  </a:cubicBezTo>
                  <a:lnTo>
                    <a:pt x="1288978" y="170964"/>
                  </a:lnTo>
                  <a:cubicBezTo>
                    <a:pt x="1288978" y="175160"/>
                    <a:pt x="1287312" y="179183"/>
                    <a:pt x="1284345" y="182150"/>
                  </a:cubicBezTo>
                  <a:cubicBezTo>
                    <a:pt x="1281378" y="185117"/>
                    <a:pt x="1277355" y="186783"/>
                    <a:pt x="1273159" y="186783"/>
                  </a:cubicBezTo>
                  <a:lnTo>
                    <a:pt x="15819" y="186783"/>
                  </a:lnTo>
                  <a:cubicBezTo>
                    <a:pt x="11623" y="186783"/>
                    <a:pt x="7600" y="185117"/>
                    <a:pt x="4633" y="182150"/>
                  </a:cubicBezTo>
                  <a:cubicBezTo>
                    <a:pt x="1667" y="179183"/>
                    <a:pt x="0" y="175160"/>
                    <a:pt x="0" y="170964"/>
                  </a:cubicBezTo>
                  <a:lnTo>
                    <a:pt x="0" y="15819"/>
                  </a:lnTo>
                  <a:cubicBezTo>
                    <a:pt x="0" y="11623"/>
                    <a:pt x="1667" y="7600"/>
                    <a:pt x="4633" y="4633"/>
                  </a:cubicBezTo>
                  <a:cubicBezTo>
                    <a:pt x="7600" y="1667"/>
                    <a:pt x="11623" y="0"/>
                    <a:pt x="15819" y="0"/>
                  </a:cubicBezTo>
                  <a:close/>
                </a:path>
              </a:pathLst>
            </a:custGeom>
            <a:ln w="19050" cap="sq">
              <a:solidFill>
                <a:srgbClr val="FE41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88978" cy="23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0F0E0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Existing Classical Model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2369" y="4753092"/>
            <a:ext cx="7482019" cy="732637"/>
            <a:chOff x="0" y="0"/>
            <a:chExt cx="1970573" cy="1929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70573" cy="192958"/>
            </a:xfrm>
            <a:custGeom>
              <a:avLst/>
              <a:gdLst/>
              <a:ahLst/>
              <a:cxnLst/>
              <a:rect r="r" b="b" t="t" l="l"/>
              <a:pathLst>
                <a:path h="192958" w="1970573">
                  <a:moveTo>
                    <a:pt x="10347" y="0"/>
                  </a:moveTo>
                  <a:lnTo>
                    <a:pt x="1960226" y="0"/>
                  </a:lnTo>
                  <a:cubicBezTo>
                    <a:pt x="1962970" y="0"/>
                    <a:pt x="1965602" y="1090"/>
                    <a:pt x="1967542" y="3031"/>
                  </a:cubicBezTo>
                  <a:cubicBezTo>
                    <a:pt x="1969483" y="4971"/>
                    <a:pt x="1970573" y="7603"/>
                    <a:pt x="1970573" y="10347"/>
                  </a:cubicBezTo>
                  <a:lnTo>
                    <a:pt x="1970573" y="182610"/>
                  </a:lnTo>
                  <a:cubicBezTo>
                    <a:pt x="1970573" y="188325"/>
                    <a:pt x="1965940" y="192958"/>
                    <a:pt x="1960226" y="192958"/>
                  </a:cubicBezTo>
                  <a:lnTo>
                    <a:pt x="10347" y="192958"/>
                  </a:lnTo>
                  <a:cubicBezTo>
                    <a:pt x="4633" y="192958"/>
                    <a:pt x="0" y="188325"/>
                    <a:pt x="0" y="182610"/>
                  </a:cubicBezTo>
                  <a:lnTo>
                    <a:pt x="0" y="10347"/>
                  </a:lnTo>
                  <a:cubicBezTo>
                    <a:pt x="0" y="4633"/>
                    <a:pt x="4633" y="0"/>
                    <a:pt x="10347" y="0"/>
                  </a:cubicBezTo>
                  <a:close/>
                </a:path>
              </a:pathLst>
            </a:custGeom>
            <a:ln w="19050" cap="sq">
              <a:solidFill>
                <a:srgbClr val="FE41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970573" cy="250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AE6228"/>
                  </a:solidFill>
                  <a:latin typeface="Gordita"/>
                  <a:ea typeface="Gordita"/>
                  <a:cs typeface="Gordita"/>
                  <a:sym typeface="Gordita"/>
                </a:rPr>
                <a:t>Proposed Quantum Model (BB84-Based)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true" flipV="false" rot="0">
            <a:off x="16175028" y="3473458"/>
            <a:ext cx="435239" cy="509052"/>
          </a:xfrm>
          <a:custGeom>
            <a:avLst/>
            <a:gdLst/>
            <a:ahLst/>
            <a:cxnLst/>
            <a:rect r="r" b="b" t="t" l="l"/>
            <a:pathLst>
              <a:path h="509052" w="435239">
                <a:moveTo>
                  <a:pt x="435239" y="0"/>
                </a:moveTo>
                <a:lnTo>
                  <a:pt x="0" y="0"/>
                </a:lnTo>
                <a:lnTo>
                  <a:pt x="0" y="509052"/>
                </a:lnTo>
                <a:lnTo>
                  <a:pt x="435239" y="509052"/>
                </a:lnTo>
                <a:lnTo>
                  <a:pt x="4352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912234" y="392609"/>
            <a:ext cx="506021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Details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0681" y="392609"/>
            <a:ext cx="757155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Implementation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63487" y="274849"/>
            <a:ext cx="11192266" cy="1444590"/>
            <a:chOff x="0" y="0"/>
            <a:chExt cx="1874670" cy="2419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74670" cy="241964"/>
            </a:xfrm>
            <a:custGeom>
              <a:avLst/>
              <a:gdLst/>
              <a:ahLst/>
              <a:cxnLst/>
              <a:rect r="r" b="b" t="t" l="l"/>
              <a:pathLst>
                <a:path h="241964" w="1874670">
                  <a:moveTo>
                    <a:pt x="0" y="0"/>
                  </a:moveTo>
                  <a:lnTo>
                    <a:pt x="1874670" y="0"/>
                  </a:lnTo>
                  <a:lnTo>
                    <a:pt x="1874670" y="241964"/>
                  </a:lnTo>
                  <a:lnTo>
                    <a:pt x="0" y="241964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874670" cy="270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3087" y="221098"/>
            <a:ext cx="700801" cy="107501"/>
            <a:chOff x="0" y="0"/>
            <a:chExt cx="117382" cy="180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382" cy="18006"/>
            </a:xfrm>
            <a:custGeom>
              <a:avLst/>
              <a:gdLst/>
              <a:ahLst/>
              <a:cxnLst/>
              <a:rect r="r" b="b" t="t" l="l"/>
              <a:pathLst>
                <a:path h="18006" w="117382">
                  <a:moveTo>
                    <a:pt x="0" y="0"/>
                  </a:moveTo>
                  <a:lnTo>
                    <a:pt x="117382" y="0"/>
                  </a:lnTo>
                  <a:lnTo>
                    <a:pt x="117382" y="18006"/>
                  </a:lnTo>
                  <a:lnTo>
                    <a:pt x="0" y="1800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17382" cy="46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3087" y="1673848"/>
            <a:ext cx="700801" cy="91182"/>
            <a:chOff x="0" y="0"/>
            <a:chExt cx="117382" cy="1527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382" cy="15273"/>
            </a:xfrm>
            <a:custGeom>
              <a:avLst/>
              <a:gdLst/>
              <a:ahLst/>
              <a:cxnLst/>
              <a:rect r="r" b="b" t="t" l="l"/>
              <a:pathLst>
                <a:path h="15273" w="117382">
                  <a:moveTo>
                    <a:pt x="0" y="0"/>
                  </a:moveTo>
                  <a:lnTo>
                    <a:pt x="117382" y="0"/>
                  </a:lnTo>
                  <a:lnTo>
                    <a:pt x="117382" y="15273"/>
                  </a:lnTo>
                  <a:lnTo>
                    <a:pt x="0" y="1527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17382" cy="43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25049" y="1673848"/>
            <a:ext cx="661408" cy="91182"/>
            <a:chOff x="0" y="0"/>
            <a:chExt cx="110784" cy="152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784" cy="15273"/>
            </a:xfrm>
            <a:custGeom>
              <a:avLst/>
              <a:gdLst/>
              <a:ahLst/>
              <a:cxnLst/>
              <a:rect r="r" b="b" t="t" l="l"/>
              <a:pathLst>
                <a:path h="15273" w="110784">
                  <a:moveTo>
                    <a:pt x="0" y="0"/>
                  </a:moveTo>
                  <a:lnTo>
                    <a:pt x="110784" y="0"/>
                  </a:lnTo>
                  <a:lnTo>
                    <a:pt x="110784" y="15273"/>
                  </a:lnTo>
                  <a:lnTo>
                    <a:pt x="0" y="1527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10784" cy="43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25049" y="221098"/>
            <a:ext cx="661408" cy="107501"/>
            <a:chOff x="0" y="0"/>
            <a:chExt cx="110784" cy="180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784" cy="18006"/>
            </a:xfrm>
            <a:custGeom>
              <a:avLst/>
              <a:gdLst/>
              <a:ahLst/>
              <a:cxnLst/>
              <a:rect r="r" b="b" t="t" l="l"/>
              <a:pathLst>
                <a:path h="18006" w="110784">
                  <a:moveTo>
                    <a:pt x="0" y="0"/>
                  </a:moveTo>
                  <a:lnTo>
                    <a:pt x="110784" y="0"/>
                  </a:lnTo>
                  <a:lnTo>
                    <a:pt x="110784" y="18006"/>
                  </a:lnTo>
                  <a:lnTo>
                    <a:pt x="0" y="1800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10784" cy="46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0821744" y="6019196"/>
            <a:ext cx="4574728" cy="1381050"/>
          </a:xfrm>
          <a:custGeom>
            <a:avLst/>
            <a:gdLst/>
            <a:ahLst/>
            <a:cxnLst/>
            <a:rect r="r" b="b" t="t" l="l"/>
            <a:pathLst>
              <a:path h="1381050" w="4574728">
                <a:moveTo>
                  <a:pt x="0" y="0"/>
                </a:moveTo>
                <a:lnTo>
                  <a:pt x="4574728" y="0"/>
                </a:lnTo>
                <a:lnTo>
                  <a:pt x="4574728" y="1381050"/>
                </a:lnTo>
                <a:lnTo>
                  <a:pt x="0" y="1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993520" y="2639988"/>
            <a:ext cx="153991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FE4100"/>
                </a:solidFill>
                <a:latin typeface="Gordita Bold"/>
                <a:ea typeface="Gordita Bold"/>
                <a:cs typeface="Gordita Bold"/>
                <a:sym typeface="Gordita Bold"/>
              </a:rPr>
              <a:t>Flow:  </a:t>
            </a:r>
            <a:r>
              <a:rPr lang="en-US" sz="300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Key Generation → AE</a:t>
            </a:r>
            <a:r>
              <a:rPr lang="en-US" sz="300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 Encryption → Network Transmission → Decryption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9488" y="203291"/>
            <a:ext cx="1025400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Results</a:t>
            </a:r>
            <a:r>
              <a:rPr lang="en-US" sz="7200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 &amp; </a:t>
            </a:r>
            <a:r>
              <a:rPr lang="en-US" sz="7200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Comparison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31655" y="1272020"/>
            <a:ext cx="435239" cy="509052"/>
          </a:xfrm>
          <a:custGeom>
            <a:avLst/>
            <a:gdLst/>
            <a:ahLst/>
            <a:cxnLst/>
            <a:rect r="r" b="b" t="t" l="l"/>
            <a:pathLst>
              <a:path h="509052" w="435239">
                <a:moveTo>
                  <a:pt x="435239" y="0"/>
                </a:moveTo>
                <a:lnTo>
                  <a:pt x="0" y="0"/>
                </a:lnTo>
                <a:lnTo>
                  <a:pt x="0" y="509052"/>
                </a:lnTo>
                <a:lnTo>
                  <a:pt x="435239" y="509052"/>
                </a:lnTo>
                <a:lnTo>
                  <a:pt x="4352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87866" y="196874"/>
            <a:ext cx="10404950" cy="1373004"/>
            <a:chOff x="0" y="0"/>
            <a:chExt cx="1742797" cy="2299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2797" cy="229974"/>
            </a:xfrm>
            <a:custGeom>
              <a:avLst/>
              <a:gdLst/>
              <a:ahLst/>
              <a:cxnLst/>
              <a:rect r="r" b="b" t="t" l="l"/>
              <a:pathLst>
                <a:path h="229974" w="1742797">
                  <a:moveTo>
                    <a:pt x="0" y="0"/>
                  </a:moveTo>
                  <a:lnTo>
                    <a:pt x="1742797" y="0"/>
                  </a:lnTo>
                  <a:lnTo>
                    <a:pt x="1742797" y="229974"/>
                  </a:lnTo>
                  <a:lnTo>
                    <a:pt x="0" y="229974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742797" cy="258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76244" y="153542"/>
            <a:ext cx="423244" cy="86664"/>
            <a:chOff x="0" y="0"/>
            <a:chExt cx="70892" cy="145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892" cy="14516"/>
            </a:xfrm>
            <a:custGeom>
              <a:avLst/>
              <a:gdLst/>
              <a:ahLst/>
              <a:cxnLst/>
              <a:rect r="r" b="b" t="t" l="l"/>
              <a:pathLst>
                <a:path h="14516" w="70892">
                  <a:moveTo>
                    <a:pt x="0" y="0"/>
                  </a:moveTo>
                  <a:lnTo>
                    <a:pt x="70892" y="0"/>
                  </a:lnTo>
                  <a:lnTo>
                    <a:pt x="70892" y="14516"/>
                  </a:lnTo>
                  <a:lnTo>
                    <a:pt x="0" y="1451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0892" cy="4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244" y="1526546"/>
            <a:ext cx="423244" cy="86664"/>
            <a:chOff x="0" y="0"/>
            <a:chExt cx="70892" cy="145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892" cy="14516"/>
            </a:xfrm>
            <a:custGeom>
              <a:avLst/>
              <a:gdLst/>
              <a:ahLst/>
              <a:cxnLst/>
              <a:rect r="r" b="b" t="t" l="l"/>
              <a:pathLst>
                <a:path h="14516" w="70892">
                  <a:moveTo>
                    <a:pt x="0" y="0"/>
                  </a:moveTo>
                  <a:lnTo>
                    <a:pt x="70892" y="0"/>
                  </a:lnTo>
                  <a:lnTo>
                    <a:pt x="70892" y="14516"/>
                  </a:lnTo>
                  <a:lnTo>
                    <a:pt x="0" y="1451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0892" cy="4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85375" y="1526546"/>
            <a:ext cx="614882" cy="86664"/>
            <a:chOff x="0" y="0"/>
            <a:chExt cx="102991" cy="145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991" cy="14516"/>
            </a:xfrm>
            <a:custGeom>
              <a:avLst/>
              <a:gdLst/>
              <a:ahLst/>
              <a:cxnLst/>
              <a:rect r="r" b="b" t="t" l="l"/>
              <a:pathLst>
                <a:path h="14516" w="102991">
                  <a:moveTo>
                    <a:pt x="0" y="0"/>
                  </a:moveTo>
                  <a:lnTo>
                    <a:pt x="102991" y="0"/>
                  </a:lnTo>
                  <a:lnTo>
                    <a:pt x="102991" y="14516"/>
                  </a:lnTo>
                  <a:lnTo>
                    <a:pt x="0" y="1451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2991" cy="4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85375" y="153542"/>
            <a:ext cx="614882" cy="86664"/>
            <a:chOff x="0" y="0"/>
            <a:chExt cx="102991" cy="145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991" cy="14516"/>
            </a:xfrm>
            <a:custGeom>
              <a:avLst/>
              <a:gdLst/>
              <a:ahLst/>
              <a:cxnLst/>
              <a:rect r="r" b="b" t="t" l="l"/>
              <a:pathLst>
                <a:path h="14516" w="102991">
                  <a:moveTo>
                    <a:pt x="0" y="0"/>
                  </a:moveTo>
                  <a:lnTo>
                    <a:pt x="102991" y="0"/>
                  </a:lnTo>
                  <a:lnTo>
                    <a:pt x="102991" y="14516"/>
                  </a:lnTo>
                  <a:lnTo>
                    <a:pt x="0" y="1451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2991" cy="4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4722" y="2129098"/>
            <a:ext cx="17104237" cy="3731453"/>
            <a:chOff x="0" y="0"/>
            <a:chExt cx="3380465" cy="7374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80465" cy="737481"/>
            </a:xfrm>
            <a:custGeom>
              <a:avLst/>
              <a:gdLst/>
              <a:ahLst/>
              <a:cxnLst/>
              <a:rect r="r" b="b" t="t" l="l"/>
              <a:pathLst>
                <a:path h="737481" w="3380465">
                  <a:moveTo>
                    <a:pt x="0" y="0"/>
                  </a:moveTo>
                  <a:lnTo>
                    <a:pt x="3380465" y="0"/>
                  </a:lnTo>
                  <a:lnTo>
                    <a:pt x="3380465" y="737481"/>
                  </a:lnTo>
                  <a:lnTo>
                    <a:pt x="0" y="737481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380465" cy="766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471363" y="1997439"/>
            <a:ext cx="409091" cy="263318"/>
            <a:chOff x="0" y="0"/>
            <a:chExt cx="80852" cy="520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852" cy="52042"/>
            </a:xfrm>
            <a:custGeom>
              <a:avLst/>
              <a:gdLst/>
              <a:ahLst/>
              <a:cxnLst/>
              <a:rect r="r" b="b" t="t" l="l"/>
              <a:pathLst>
                <a:path h="52042" w="80852">
                  <a:moveTo>
                    <a:pt x="0" y="0"/>
                  </a:moveTo>
                  <a:lnTo>
                    <a:pt x="80852" y="0"/>
                  </a:lnTo>
                  <a:lnTo>
                    <a:pt x="80852" y="52042"/>
                  </a:lnTo>
                  <a:lnTo>
                    <a:pt x="0" y="52042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0852" cy="80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471363" y="5728892"/>
            <a:ext cx="409091" cy="131659"/>
            <a:chOff x="0" y="0"/>
            <a:chExt cx="80852" cy="260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852" cy="26021"/>
            </a:xfrm>
            <a:custGeom>
              <a:avLst/>
              <a:gdLst/>
              <a:ahLst/>
              <a:cxnLst/>
              <a:rect r="r" b="b" t="t" l="l"/>
              <a:pathLst>
                <a:path h="26021" w="80852">
                  <a:moveTo>
                    <a:pt x="0" y="0"/>
                  </a:moveTo>
                  <a:lnTo>
                    <a:pt x="80852" y="0"/>
                  </a:lnTo>
                  <a:lnTo>
                    <a:pt x="80852" y="26021"/>
                  </a:lnTo>
                  <a:lnTo>
                    <a:pt x="0" y="26021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0852" cy="54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99488" y="2064455"/>
            <a:ext cx="490469" cy="129286"/>
            <a:chOff x="0" y="0"/>
            <a:chExt cx="82152" cy="216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152" cy="21655"/>
            </a:xfrm>
            <a:custGeom>
              <a:avLst/>
              <a:gdLst/>
              <a:ahLst/>
              <a:cxnLst/>
              <a:rect r="r" b="b" t="t" l="l"/>
              <a:pathLst>
                <a:path h="21655" w="82152">
                  <a:moveTo>
                    <a:pt x="0" y="0"/>
                  </a:moveTo>
                  <a:lnTo>
                    <a:pt x="82152" y="0"/>
                  </a:lnTo>
                  <a:lnTo>
                    <a:pt x="82152" y="21655"/>
                  </a:lnTo>
                  <a:lnTo>
                    <a:pt x="0" y="2165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2152" cy="5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99488" y="5731265"/>
            <a:ext cx="490469" cy="129286"/>
            <a:chOff x="0" y="0"/>
            <a:chExt cx="82152" cy="216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152" cy="21655"/>
            </a:xfrm>
            <a:custGeom>
              <a:avLst/>
              <a:gdLst/>
              <a:ahLst/>
              <a:cxnLst/>
              <a:rect r="r" b="b" t="t" l="l"/>
              <a:pathLst>
                <a:path h="21655" w="82152">
                  <a:moveTo>
                    <a:pt x="0" y="0"/>
                  </a:moveTo>
                  <a:lnTo>
                    <a:pt x="82152" y="0"/>
                  </a:lnTo>
                  <a:lnTo>
                    <a:pt x="82152" y="21655"/>
                  </a:lnTo>
                  <a:lnTo>
                    <a:pt x="0" y="2165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2152" cy="5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4722" y="6123869"/>
            <a:ext cx="17243278" cy="3731453"/>
            <a:chOff x="0" y="0"/>
            <a:chExt cx="3407944" cy="7374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07944" cy="737481"/>
            </a:xfrm>
            <a:custGeom>
              <a:avLst/>
              <a:gdLst/>
              <a:ahLst/>
              <a:cxnLst/>
              <a:rect r="r" b="b" t="t" l="l"/>
              <a:pathLst>
                <a:path h="737481" w="3407944">
                  <a:moveTo>
                    <a:pt x="0" y="0"/>
                  </a:moveTo>
                  <a:lnTo>
                    <a:pt x="3407944" y="0"/>
                  </a:lnTo>
                  <a:lnTo>
                    <a:pt x="3407944" y="737481"/>
                  </a:lnTo>
                  <a:lnTo>
                    <a:pt x="0" y="737481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3407944" cy="766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471363" y="5992210"/>
            <a:ext cx="409091" cy="263318"/>
            <a:chOff x="0" y="0"/>
            <a:chExt cx="80852" cy="520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852" cy="52042"/>
            </a:xfrm>
            <a:custGeom>
              <a:avLst/>
              <a:gdLst/>
              <a:ahLst/>
              <a:cxnLst/>
              <a:rect r="r" b="b" t="t" l="l"/>
              <a:pathLst>
                <a:path h="52042" w="80852">
                  <a:moveTo>
                    <a:pt x="0" y="0"/>
                  </a:moveTo>
                  <a:lnTo>
                    <a:pt x="80852" y="0"/>
                  </a:lnTo>
                  <a:lnTo>
                    <a:pt x="80852" y="52042"/>
                  </a:lnTo>
                  <a:lnTo>
                    <a:pt x="0" y="52042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80852" cy="80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471363" y="9723664"/>
            <a:ext cx="409091" cy="263318"/>
            <a:chOff x="0" y="0"/>
            <a:chExt cx="80852" cy="520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852" cy="52042"/>
            </a:xfrm>
            <a:custGeom>
              <a:avLst/>
              <a:gdLst/>
              <a:ahLst/>
              <a:cxnLst/>
              <a:rect r="r" b="b" t="t" l="l"/>
              <a:pathLst>
                <a:path h="52042" w="80852">
                  <a:moveTo>
                    <a:pt x="0" y="0"/>
                  </a:moveTo>
                  <a:lnTo>
                    <a:pt x="80852" y="0"/>
                  </a:lnTo>
                  <a:lnTo>
                    <a:pt x="80852" y="52042"/>
                  </a:lnTo>
                  <a:lnTo>
                    <a:pt x="0" y="52042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80852" cy="80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99488" y="6059227"/>
            <a:ext cx="490469" cy="129286"/>
            <a:chOff x="0" y="0"/>
            <a:chExt cx="82152" cy="216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152" cy="21655"/>
            </a:xfrm>
            <a:custGeom>
              <a:avLst/>
              <a:gdLst/>
              <a:ahLst/>
              <a:cxnLst/>
              <a:rect r="r" b="b" t="t" l="l"/>
              <a:pathLst>
                <a:path h="21655" w="82152">
                  <a:moveTo>
                    <a:pt x="0" y="0"/>
                  </a:moveTo>
                  <a:lnTo>
                    <a:pt x="82152" y="0"/>
                  </a:lnTo>
                  <a:lnTo>
                    <a:pt x="82152" y="21655"/>
                  </a:lnTo>
                  <a:lnTo>
                    <a:pt x="0" y="2165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82152" cy="5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99488" y="9726037"/>
            <a:ext cx="490469" cy="129286"/>
            <a:chOff x="0" y="0"/>
            <a:chExt cx="82152" cy="216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152" cy="21655"/>
            </a:xfrm>
            <a:custGeom>
              <a:avLst/>
              <a:gdLst/>
              <a:ahLst/>
              <a:cxnLst/>
              <a:rect r="r" b="b" t="t" l="l"/>
              <a:pathLst>
                <a:path h="21655" w="82152">
                  <a:moveTo>
                    <a:pt x="0" y="0"/>
                  </a:moveTo>
                  <a:lnTo>
                    <a:pt x="82152" y="0"/>
                  </a:lnTo>
                  <a:lnTo>
                    <a:pt x="82152" y="21655"/>
                  </a:lnTo>
                  <a:lnTo>
                    <a:pt x="0" y="2165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82152" cy="5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89957" y="2260757"/>
            <a:ext cx="2845347" cy="710885"/>
            <a:chOff x="0" y="0"/>
            <a:chExt cx="562352" cy="1404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2352" cy="140499"/>
            </a:xfrm>
            <a:custGeom>
              <a:avLst/>
              <a:gdLst/>
              <a:ahLst/>
              <a:cxnLst/>
              <a:rect r="r" b="b" t="t" l="l"/>
              <a:pathLst>
                <a:path h="140499" w="562352">
                  <a:moveTo>
                    <a:pt x="40814" y="0"/>
                  </a:moveTo>
                  <a:lnTo>
                    <a:pt x="521538" y="0"/>
                  </a:lnTo>
                  <a:cubicBezTo>
                    <a:pt x="544079" y="0"/>
                    <a:pt x="562352" y="18273"/>
                    <a:pt x="562352" y="40814"/>
                  </a:cubicBezTo>
                  <a:lnTo>
                    <a:pt x="562352" y="99685"/>
                  </a:lnTo>
                  <a:cubicBezTo>
                    <a:pt x="562352" y="122226"/>
                    <a:pt x="544079" y="140499"/>
                    <a:pt x="521538" y="140499"/>
                  </a:cubicBezTo>
                  <a:lnTo>
                    <a:pt x="40814" y="140499"/>
                  </a:lnTo>
                  <a:cubicBezTo>
                    <a:pt x="18273" y="140499"/>
                    <a:pt x="0" y="122226"/>
                    <a:pt x="0" y="99685"/>
                  </a:cubicBezTo>
                  <a:lnTo>
                    <a:pt x="0" y="40814"/>
                  </a:lnTo>
                  <a:cubicBezTo>
                    <a:pt x="0" y="18273"/>
                    <a:pt x="18273" y="0"/>
                    <a:pt x="40814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62352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Classical systems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639222" y="2193741"/>
            <a:ext cx="3255069" cy="710885"/>
            <a:chOff x="0" y="0"/>
            <a:chExt cx="643329" cy="1404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3329" cy="140499"/>
            </a:xfrm>
            <a:custGeom>
              <a:avLst/>
              <a:gdLst/>
              <a:ahLst/>
              <a:cxnLst/>
              <a:rect r="r" b="b" t="t" l="l"/>
              <a:pathLst>
                <a:path h="140499" w="643329">
                  <a:moveTo>
                    <a:pt x="35676" y="0"/>
                  </a:moveTo>
                  <a:lnTo>
                    <a:pt x="607652" y="0"/>
                  </a:lnTo>
                  <a:cubicBezTo>
                    <a:pt x="617114" y="0"/>
                    <a:pt x="626189" y="3759"/>
                    <a:pt x="632879" y="10449"/>
                  </a:cubicBezTo>
                  <a:cubicBezTo>
                    <a:pt x="639570" y="17140"/>
                    <a:pt x="643329" y="26214"/>
                    <a:pt x="643329" y="35676"/>
                  </a:cubicBezTo>
                  <a:lnTo>
                    <a:pt x="643329" y="104822"/>
                  </a:lnTo>
                  <a:cubicBezTo>
                    <a:pt x="643329" y="124526"/>
                    <a:pt x="627356" y="140499"/>
                    <a:pt x="607652" y="140499"/>
                  </a:cubicBezTo>
                  <a:lnTo>
                    <a:pt x="35676" y="140499"/>
                  </a:lnTo>
                  <a:cubicBezTo>
                    <a:pt x="15973" y="140499"/>
                    <a:pt x="0" y="124526"/>
                    <a:pt x="0" y="104822"/>
                  </a:cubicBezTo>
                  <a:lnTo>
                    <a:pt x="0" y="35676"/>
                  </a:lnTo>
                  <a:cubicBezTo>
                    <a:pt x="0" y="15973"/>
                    <a:pt x="15973" y="0"/>
                    <a:pt x="35676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43329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Quantum systems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04143" y="6422526"/>
            <a:ext cx="2845347" cy="710885"/>
            <a:chOff x="0" y="0"/>
            <a:chExt cx="562352" cy="1404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2352" cy="140499"/>
            </a:xfrm>
            <a:custGeom>
              <a:avLst/>
              <a:gdLst/>
              <a:ahLst/>
              <a:cxnLst/>
              <a:rect r="r" b="b" t="t" l="l"/>
              <a:pathLst>
                <a:path h="140499" w="562352">
                  <a:moveTo>
                    <a:pt x="40814" y="0"/>
                  </a:moveTo>
                  <a:lnTo>
                    <a:pt x="521538" y="0"/>
                  </a:lnTo>
                  <a:cubicBezTo>
                    <a:pt x="544079" y="0"/>
                    <a:pt x="562352" y="18273"/>
                    <a:pt x="562352" y="40814"/>
                  </a:cubicBezTo>
                  <a:lnTo>
                    <a:pt x="562352" y="99685"/>
                  </a:lnTo>
                  <a:cubicBezTo>
                    <a:pt x="562352" y="122226"/>
                    <a:pt x="544079" y="140499"/>
                    <a:pt x="521538" y="140499"/>
                  </a:cubicBezTo>
                  <a:lnTo>
                    <a:pt x="40814" y="140499"/>
                  </a:lnTo>
                  <a:cubicBezTo>
                    <a:pt x="18273" y="140499"/>
                    <a:pt x="0" y="122226"/>
                    <a:pt x="0" y="99685"/>
                  </a:cubicBezTo>
                  <a:lnTo>
                    <a:pt x="0" y="40814"/>
                  </a:lnTo>
                  <a:cubicBezTo>
                    <a:pt x="0" y="18273"/>
                    <a:pt x="18273" y="0"/>
                    <a:pt x="40814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62352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Classical systems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438348" y="6276002"/>
            <a:ext cx="3152639" cy="710885"/>
            <a:chOff x="0" y="0"/>
            <a:chExt cx="623084" cy="14049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084" cy="140499"/>
            </a:xfrm>
            <a:custGeom>
              <a:avLst/>
              <a:gdLst/>
              <a:ahLst/>
              <a:cxnLst/>
              <a:rect r="r" b="b" t="t" l="l"/>
              <a:pathLst>
                <a:path h="140499" w="623084">
                  <a:moveTo>
                    <a:pt x="36835" y="0"/>
                  </a:moveTo>
                  <a:lnTo>
                    <a:pt x="586249" y="0"/>
                  </a:lnTo>
                  <a:cubicBezTo>
                    <a:pt x="606593" y="0"/>
                    <a:pt x="623084" y="16492"/>
                    <a:pt x="623084" y="36835"/>
                  </a:cubicBezTo>
                  <a:lnTo>
                    <a:pt x="623084" y="103663"/>
                  </a:lnTo>
                  <a:cubicBezTo>
                    <a:pt x="623084" y="113433"/>
                    <a:pt x="619204" y="122802"/>
                    <a:pt x="612296" y="129710"/>
                  </a:cubicBezTo>
                  <a:cubicBezTo>
                    <a:pt x="605388" y="136618"/>
                    <a:pt x="596018" y="140499"/>
                    <a:pt x="586249" y="140499"/>
                  </a:cubicBezTo>
                  <a:lnTo>
                    <a:pt x="36835" y="140499"/>
                  </a:lnTo>
                  <a:cubicBezTo>
                    <a:pt x="27066" y="140499"/>
                    <a:pt x="17697" y="136618"/>
                    <a:pt x="10789" y="129710"/>
                  </a:cubicBezTo>
                  <a:cubicBezTo>
                    <a:pt x="3881" y="122802"/>
                    <a:pt x="0" y="113433"/>
                    <a:pt x="0" y="103663"/>
                  </a:cubicBezTo>
                  <a:lnTo>
                    <a:pt x="0" y="36835"/>
                  </a:lnTo>
                  <a:cubicBezTo>
                    <a:pt x="0" y="27066"/>
                    <a:pt x="3881" y="17697"/>
                    <a:pt x="10789" y="10789"/>
                  </a:cubicBezTo>
                  <a:cubicBezTo>
                    <a:pt x="17697" y="3881"/>
                    <a:pt x="27066" y="0"/>
                    <a:pt x="36835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23084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Quantum systems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289957" y="3137374"/>
            <a:ext cx="4403301" cy="2355766"/>
          </a:xfrm>
          <a:custGeom>
            <a:avLst/>
            <a:gdLst/>
            <a:ahLst/>
            <a:cxnLst/>
            <a:rect r="r" b="b" t="t" l="l"/>
            <a:pathLst>
              <a:path h="2355766" w="4403301">
                <a:moveTo>
                  <a:pt x="0" y="0"/>
                </a:moveTo>
                <a:lnTo>
                  <a:pt x="4403301" y="0"/>
                </a:lnTo>
                <a:lnTo>
                  <a:pt x="4403301" y="2355766"/>
                </a:lnTo>
                <a:lnTo>
                  <a:pt x="0" y="23557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5790341" y="2134870"/>
            <a:ext cx="4648007" cy="3596396"/>
          </a:xfrm>
          <a:custGeom>
            <a:avLst/>
            <a:gdLst/>
            <a:ahLst/>
            <a:cxnLst/>
            <a:rect r="r" b="b" t="t" l="l"/>
            <a:pathLst>
              <a:path h="3596396" w="4648007">
                <a:moveTo>
                  <a:pt x="0" y="0"/>
                </a:moveTo>
                <a:lnTo>
                  <a:pt x="4648007" y="0"/>
                </a:lnTo>
                <a:lnTo>
                  <a:pt x="4648007" y="3596395"/>
                </a:lnTo>
                <a:lnTo>
                  <a:pt x="0" y="35963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5385429" y="6188512"/>
            <a:ext cx="4809079" cy="3715014"/>
          </a:xfrm>
          <a:custGeom>
            <a:avLst/>
            <a:gdLst/>
            <a:ahLst/>
            <a:cxnLst/>
            <a:rect r="r" b="b" t="t" l="l"/>
            <a:pathLst>
              <a:path h="3715014" w="4809079">
                <a:moveTo>
                  <a:pt x="0" y="0"/>
                </a:moveTo>
                <a:lnTo>
                  <a:pt x="4809079" y="0"/>
                </a:lnTo>
                <a:lnTo>
                  <a:pt x="4809079" y="3715014"/>
                </a:lnTo>
                <a:lnTo>
                  <a:pt x="0" y="3715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289957" y="7268002"/>
            <a:ext cx="3981286" cy="2323444"/>
          </a:xfrm>
          <a:custGeom>
            <a:avLst/>
            <a:gdLst/>
            <a:ahLst/>
            <a:cxnLst/>
            <a:rect r="r" b="b" t="t" l="l"/>
            <a:pathLst>
              <a:path h="2323444" w="3981286">
                <a:moveTo>
                  <a:pt x="0" y="0"/>
                </a:moveTo>
                <a:lnTo>
                  <a:pt x="3981286" y="0"/>
                </a:lnTo>
                <a:lnTo>
                  <a:pt x="3981286" y="2323444"/>
                </a:lnTo>
                <a:lnTo>
                  <a:pt x="0" y="23234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0438348" y="3222984"/>
            <a:ext cx="4330865" cy="2270156"/>
          </a:xfrm>
          <a:custGeom>
            <a:avLst/>
            <a:gdLst/>
            <a:ahLst/>
            <a:cxnLst/>
            <a:rect r="r" b="b" t="t" l="l"/>
            <a:pathLst>
              <a:path h="2270156" w="4330865">
                <a:moveTo>
                  <a:pt x="0" y="0"/>
                </a:moveTo>
                <a:lnTo>
                  <a:pt x="4330865" y="0"/>
                </a:lnTo>
                <a:lnTo>
                  <a:pt x="4330865" y="2270156"/>
                </a:lnTo>
                <a:lnTo>
                  <a:pt x="0" y="22701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6161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4864463" y="2808546"/>
            <a:ext cx="3158147" cy="2372558"/>
          </a:xfrm>
          <a:custGeom>
            <a:avLst/>
            <a:gdLst/>
            <a:ahLst/>
            <a:cxnLst/>
            <a:rect r="r" b="b" t="t" l="l"/>
            <a:pathLst>
              <a:path h="2372558" w="3158147">
                <a:moveTo>
                  <a:pt x="0" y="0"/>
                </a:moveTo>
                <a:lnTo>
                  <a:pt x="3158147" y="0"/>
                </a:lnTo>
                <a:lnTo>
                  <a:pt x="3158147" y="2372557"/>
                </a:lnTo>
                <a:lnTo>
                  <a:pt x="0" y="2372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0308808" y="7402337"/>
            <a:ext cx="4896535" cy="2105510"/>
          </a:xfrm>
          <a:custGeom>
            <a:avLst/>
            <a:gdLst/>
            <a:ahLst/>
            <a:cxnLst/>
            <a:rect r="r" b="b" t="t" l="l"/>
            <a:pathLst>
              <a:path h="2105510" w="4896535">
                <a:moveTo>
                  <a:pt x="0" y="0"/>
                </a:moveTo>
                <a:lnTo>
                  <a:pt x="4896535" y="0"/>
                </a:lnTo>
                <a:lnTo>
                  <a:pt x="4896535" y="2105510"/>
                </a:lnTo>
                <a:lnTo>
                  <a:pt x="0" y="21055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5205343" y="7133411"/>
            <a:ext cx="2829317" cy="2093695"/>
          </a:xfrm>
          <a:custGeom>
            <a:avLst/>
            <a:gdLst/>
            <a:ahLst/>
            <a:cxnLst/>
            <a:rect r="r" b="b" t="t" l="l"/>
            <a:pathLst>
              <a:path h="2093695" w="2829317">
                <a:moveTo>
                  <a:pt x="0" y="0"/>
                </a:moveTo>
                <a:lnTo>
                  <a:pt x="2829317" y="0"/>
                </a:lnTo>
                <a:lnTo>
                  <a:pt x="2829317" y="2093695"/>
                </a:lnTo>
                <a:lnTo>
                  <a:pt x="0" y="20936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6930" y="343083"/>
            <a:ext cx="1494278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Analysis, </a:t>
            </a:r>
            <a:r>
              <a:rPr lang="en-US" sz="6399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Conclusion</a:t>
            </a:r>
            <a:r>
              <a:rPr lang="en-US" sz="63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 &amp; Future </a:t>
            </a:r>
            <a:r>
              <a:rPr lang="en-US" sz="6399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Scope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935688" y="2875614"/>
            <a:ext cx="11795179" cy="3299650"/>
            <a:chOff x="0" y="0"/>
            <a:chExt cx="1975656" cy="552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5656" cy="552681"/>
            </a:xfrm>
            <a:custGeom>
              <a:avLst/>
              <a:gdLst/>
              <a:ahLst/>
              <a:cxnLst/>
              <a:rect r="r" b="b" t="t" l="l"/>
              <a:pathLst>
                <a:path h="552681" w="1975656">
                  <a:moveTo>
                    <a:pt x="0" y="0"/>
                  </a:moveTo>
                  <a:lnTo>
                    <a:pt x="1975656" y="0"/>
                  </a:lnTo>
                  <a:lnTo>
                    <a:pt x="1975656" y="552681"/>
                  </a:lnTo>
                  <a:lnTo>
                    <a:pt x="0" y="552681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75656" cy="581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17261" y="2771477"/>
            <a:ext cx="636854" cy="208274"/>
            <a:chOff x="0" y="0"/>
            <a:chExt cx="106671" cy="348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71" cy="34885"/>
            </a:xfrm>
            <a:custGeom>
              <a:avLst/>
              <a:gdLst/>
              <a:ahLst/>
              <a:cxnLst/>
              <a:rect r="r" b="b" t="t" l="l"/>
              <a:pathLst>
                <a:path h="34885" w="106671">
                  <a:moveTo>
                    <a:pt x="0" y="0"/>
                  </a:moveTo>
                  <a:lnTo>
                    <a:pt x="106671" y="0"/>
                  </a:lnTo>
                  <a:lnTo>
                    <a:pt x="106671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6671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17261" y="6071127"/>
            <a:ext cx="636854" cy="208274"/>
            <a:chOff x="0" y="0"/>
            <a:chExt cx="106671" cy="348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71" cy="34885"/>
            </a:xfrm>
            <a:custGeom>
              <a:avLst/>
              <a:gdLst/>
              <a:ahLst/>
              <a:cxnLst/>
              <a:rect r="r" b="b" t="t" l="l"/>
              <a:pathLst>
                <a:path h="34885" w="106671">
                  <a:moveTo>
                    <a:pt x="0" y="0"/>
                  </a:moveTo>
                  <a:lnTo>
                    <a:pt x="106671" y="0"/>
                  </a:lnTo>
                  <a:lnTo>
                    <a:pt x="106671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6671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82348" y="6071127"/>
            <a:ext cx="697037" cy="208274"/>
            <a:chOff x="0" y="0"/>
            <a:chExt cx="116752" cy="348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752" cy="34885"/>
            </a:xfrm>
            <a:custGeom>
              <a:avLst/>
              <a:gdLst/>
              <a:ahLst/>
              <a:cxnLst/>
              <a:rect r="r" b="b" t="t" l="l"/>
              <a:pathLst>
                <a:path h="34885" w="116752">
                  <a:moveTo>
                    <a:pt x="0" y="0"/>
                  </a:moveTo>
                  <a:lnTo>
                    <a:pt x="116752" y="0"/>
                  </a:lnTo>
                  <a:lnTo>
                    <a:pt x="116752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16752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382348" y="2771477"/>
            <a:ext cx="697037" cy="208274"/>
            <a:chOff x="0" y="0"/>
            <a:chExt cx="116752" cy="348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752" cy="34885"/>
            </a:xfrm>
            <a:custGeom>
              <a:avLst/>
              <a:gdLst/>
              <a:ahLst/>
              <a:cxnLst/>
              <a:rect r="r" b="b" t="t" l="l"/>
              <a:pathLst>
                <a:path h="34885" w="116752">
                  <a:moveTo>
                    <a:pt x="0" y="0"/>
                  </a:moveTo>
                  <a:lnTo>
                    <a:pt x="116752" y="0"/>
                  </a:lnTo>
                  <a:lnTo>
                    <a:pt x="116752" y="34885"/>
                  </a:lnTo>
                  <a:lnTo>
                    <a:pt x="0" y="34885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16752" cy="6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1296" y="1854667"/>
            <a:ext cx="3245851" cy="916810"/>
            <a:chOff x="0" y="0"/>
            <a:chExt cx="641507" cy="181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1507" cy="181197"/>
            </a:xfrm>
            <a:custGeom>
              <a:avLst/>
              <a:gdLst/>
              <a:ahLst/>
              <a:cxnLst/>
              <a:rect r="r" b="b" t="t" l="l"/>
              <a:pathLst>
                <a:path h="181197" w="641507">
                  <a:moveTo>
                    <a:pt x="35778" y="0"/>
                  </a:moveTo>
                  <a:lnTo>
                    <a:pt x="605729" y="0"/>
                  </a:lnTo>
                  <a:cubicBezTo>
                    <a:pt x="615218" y="0"/>
                    <a:pt x="624318" y="3769"/>
                    <a:pt x="631028" y="10479"/>
                  </a:cubicBezTo>
                  <a:cubicBezTo>
                    <a:pt x="637737" y="17189"/>
                    <a:pt x="641507" y="26289"/>
                    <a:pt x="641507" y="35778"/>
                  </a:cubicBezTo>
                  <a:lnTo>
                    <a:pt x="641507" y="145420"/>
                  </a:lnTo>
                  <a:cubicBezTo>
                    <a:pt x="641507" y="154909"/>
                    <a:pt x="637737" y="164009"/>
                    <a:pt x="631028" y="170718"/>
                  </a:cubicBezTo>
                  <a:cubicBezTo>
                    <a:pt x="624318" y="177428"/>
                    <a:pt x="615218" y="181197"/>
                    <a:pt x="605729" y="181197"/>
                  </a:cubicBezTo>
                  <a:lnTo>
                    <a:pt x="35778" y="181197"/>
                  </a:lnTo>
                  <a:cubicBezTo>
                    <a:pt x="26289" y="181197"/>
                    <a:pt x="17189" y="177428"/>
                    <a:pt x="10479" y="170718"/>
                  </a:cubicBezTo>
                  <a:cubicBezTo>
                    <a:pt x="3769" y="164009"/>
                    <a:pt x="0" y="154909"/>
                    <a:pt x="0" y="145420"/>
                  </a:cubicBezTo>
                  <a:lnTo>
                    <a:pt x="0" y="35778"/>
                  </a:lnTo>
                  <a:cubicBezTo>
                    <a:pt x="0" y="26289"/>
                    <a:pt x="3769" y="17189"/>
                    <a:pt x="10479" y="10479"/>
                  </a:cubicBezTo>
                  <a:cubicBezTo>
                    <a:pt x="17189" y="3769"/>
                    <a:pt x="26289" y="0"/>
                    <a:pt x="35778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41507" cy="228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Analysis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68070" y="2979751"/>
            <a:ext cx="2864846" cy="710885"/>
            <a:chOff x="0" y="0"/>
            <a:chExt cx="566205" cy="1404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205" cy="140499"/>
            </a:xfrm>
            <a:custGeom>
              <a:avLst/>
              <a:gdLst/>
              <a:ahLst/>
              <a:cxnLst/>
              <a:rect r="r" b="b" t="t" l="l"/>
              <a:pathLst>
                <a:path h="140499" w="566205">
                  <a:moveTo>
                    <a:pt x="40536" y="0"/>
                  </a:moveTo>
                  <a:lnTo>
                    <a:pt x="525670" y="0"/>
                  </a:lnTo>
                  <a:cubicBezTo>
                    <a:pt x="536420" y="0"/>
                    <a:pt x="546731" y="4271"/>
                    <a:pt x="554333" y="11873"/>
                  </a:cubicBezTo>
                  <a:cubicBezTo>
                    <a:pt x="561935" y="19475"/>
                    <a:pt x="566205" y="29785"/>
                    <a:pt x="566205" y="40536"/>
                  </a:cubicBezTo>
                  <a:lnTo>
                    <a:pt x="566205" y="99963"/>
                  </a:lnTo>
                  <a:cubicBezTo>
                    <a:pt x="566205" y="122350"/>
                    <a:pt x="548057" y="140499"/>
                    <a:pt x="525670" y="140499"/>
                  </a:cubicBezTo>
                  <a:lnTo>
                    <a:pt x="40536" y="140499"/>
                  </a:lnTo>
                  <a:cubicBezTo>
                    <a:pt x="18148" y="140499"/>
                    <a:pt x="0" y="122350"/>
                    <a:pt x="0" y="99963"/>
                  </a:cubicBezTo>
                  <a:lnTo>
                    <a:pt x="0" y="40536"/>
                  </a:lnTo>
                  <a:cubicBezTo>
                    <a:pt x="0" y="18148"/>
                    <a:pt x="18148" y="0"/>
                    <a:pt x="40536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66205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BB84 Advantage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803944" y="2979751"/>
            <a:ext cx="2845347" cy="710885"/>
            <a:chOff x="0" y="0"/>
            <a:chExt cx="562352" cy="1404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2352" cy="140499"/>
            </a:xfrm>
            <a:custGeom>
              <a:avLst/>
              <a:gdLst/>
              <a:ahLst/>
              <a:cxnLst/>
              <a:rect r="r" b="b" t="t" l="l"/>
              <a:pathLst>
                <a:path h="140499" w="562352">
                  <a:moveTo>
                    <a:pt x="40814" y="0"/>
                  </a:moveTo>
                  <a:lnTo>
                    <a:pt x="521538" y="0"/>
                  </a:lnTo>
                  <a:cubicBezTo>
                    <a:pt x="544079" y="0"/>
                    <a:pt x="562352" y="18273"/>
                    <a:pt x="562352" y="40814"/>
                  </a:cubicBezTo>
                  <a:lnTo>
                    <a:pt x="562352" y="99685"/>
                  </a:lnTo>
                  <a:cubicBezTo>
                    <a:pt x="562352" y="122226"/>
                    <a:pt x="544079" y="140499"/>
                    <a:pt x="521538" y="140499"/>
                  </a:cubicBezTo>
                  <a:lnTo>
                    <a:pt x="40814" y="140499"/>
                  </a:lnTo>
                  <a:cubicBezTo>
                    <a:pt x="18273" y="140499"/>
                    <a:pt x="0" y="122226"/>
                    <a:pt x="0" y="99685"/>
                  </a:cubicBezTo>
                  <a:lnTo>
                    <a:pt x="0" y="40814"/>
                  </a:lnTo>
                  <a:cubicBezTo>
                    <a:pt x="0" y="18273"/>
                    <a:pt x="18273" y="0"/>
                    <a:pt x="40814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62352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Classical systems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4127" y="246421"/>
            <a:ext cx="15385503" cy="1392839"/>
            <a:chOff x="0" y="0"/>
            <a:chExt cx="2577024" cy="2332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77024" cy="233296"/>
            </a:xfrm>
            <a:custGeom>
              <a:avLst/>
              <a:gdLst/>
              <a:ahLst/>
              <a:cxnLst/>
              <a:rect r="r" b="b" t="t" l="l"/>
              <a:pathLst>
                <a:path h="233296" w="2577024">
                  <a:moveTo>
                    <a:pt x="0" y="0"/>
                  </a:moveTo>
                  <a:lnTo>
                    <a:pt x="2577024" y="0"/>
                  </a:lnTo>
                  <a:lnTo>
                    <a:pt x="2577024" y="233296"/>
                  </a:lnTo>
                  <a:lnTo>
                    <a:pt x="0" y="233296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577024" cy="261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8087" y="202463"/>
            <a:ext cx="772080" cy="87916"/>
            <a:chOff x="0" y="0"/>
            <a:chExt cx="129321" cy="1472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9321" cy="14726"/>
            </a:xfrm>
            <a:custGeom>
              <a:avLst/>
              <a:gdLst/>
              <a:ahLst/>
              <a:cxnLst/>
              <a:rect r="r" b="b" t="t" l="l"/>
              <a:pathLst>
                <a:path h="14726" w="129321">
                  <a:moveTo>
                    <a:pt x="0" y="0"/>
                  </a:moveTo>
                  <a:lnTo>
                    <a:pt x="129321" y="0"/>
                  </a:lnTo>
                  <a:lnTo>
                    <a:pt x="129321" y="14726"/>
                  </a:lnTo>
                  <a:lnTo>
                    <a:pt x="0" y="1472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29321" cy="4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8087" y="1595302"/>
            <a:ext cx="772080" cy="87916"/>
            <a:chOff x="0" y="0"/>
            <a:chExt cx="129321" cy="1472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9321" cy="14726"/>
            </a:xfrm>
            <a:custGeom>
              <a:avLst/>
              <a:gdLst/>
              <a:ahLst/>
              <a:cxnLst/>
              <a:rect r="r" b="b" t="t" l="l"/>
              <a:pathLst>
                <a:path h="14726" w="129321">
                  <a:moveTo>
                    <a:pt x="0" y="0"/>
                  </a:moveTo>
                  <a:lnTo>
                    <a:pt x="129321" y="0"/>
                  </a:lnTo>
                  <a:lnTo>
                    <a:pt x="129321" y="14726"/>
                  </a:lnTo>
                  <a:lnTo>
                    <a:pt x="0" y="1472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29321" cy="4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05025" y="1595302"/>
            <a:ext cx="909208" cy="87916"/>
            <a:chOff x="0" y="0"/>
            <a:chExt cx="152290" cy="1472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2290" cy="14726"/>
            </a:xfrm>
            <a:custGeom>
              <a:avLst/>
              <a:gdLst/>
              <a:ahLst/>
              <a:cxnLst/>
              <a:rect r="r" b="b" t="t" l="l"/>
              <a:pathLst>
                <a:path h="14726" w="152290">
                  <a:moveTo>
                    <a:pt x="0" y="0"/>
                  </a:moveTo>
                  <a:lnTo>
                    <a:pt x="152290" y="0"/>
                  </a:lnTo>
                  <a:lnTo>
                    <a:pt x="152290" y="14726"/>
                  </a:lnTo>
                  <a:lnTo>
                    <a:pt x="0" y="1472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52290" cy="4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305025" y="202463"/>
            <a:ext cx="909208" cy="87916"/>
            <a:chOff x="0" y="0"/>
            <a:chExt cx="152290" cy="147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2290" cy="14726"/>
            </a:xfrm>
            <a:custGeom>
              <a:avLst/>
              <a:gdLst/>
              <a:ahLst/>
              <a:cxnLst/>
              <a:rect r="r" b="b" t="t" l="l"/>
              <a:pathLst>
                <a:path h="14726" w="152290">
                  <a:moveTo>
                    <a:pt x="0" y="0"/>
                  </a:moveTo>
                  <a:lnTo>
                    <a:pt x="152290" y="0"/>
                  </a:lnTo>
                  <a:lnTo>
                    <a:pt x="152290" y="14726"/>
                  </a:lnTo>
                  <a:lnTo>
                    <a:pt x="0" y="14726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52290" cy="4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258425" y="3759727"/>
            <a:ext cx="5574852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ecure today, but </a:t>
            </a: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vulnerable 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to future quantum attacks</a:t>
            </a: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 (Shor’s algorithm threat).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07496" y="3778777"/>
            <a:ext cx="5574852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ecurity based on </a:t>
            </a: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laws of quantum physics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, </a:t>
            </a: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not mathematical assumptions.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639336" y="4537602"/>
            <a:ext cx="4210851" cy="710885"/>
            <a:chOff x="0" y="0"/>
            <a:chExt cx="832228" cy="14049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32228" cy="140499"/>
            </a:xfrm>
            <a:custGeom>
              <a:avLst/>
              <a:gdLst/>
              <a:ahLst/>
              <a:cxnLst/>
              <a:rect r="r" b="b" t="t" l="l"/>
              <a:pathLst>
                <a:path h="140499" w="832228">
                  <a:moveTo>
                    <a:pt x="27578" y="0"/>
                  </a:moveTo>
                  <a:lnTo>
                    <a:pt x="804650" y="0"/>
                  </a:lnTo>
                  <a:cubicBezTo>
                    <a:pt x="811964" y="0"/>
                    <a:pt x="818979" y="2906"/>
                    <a:pt x="824151" y="8078"/>
                  </a:cubicBezTo>
                  <a:cubicBezTo>
                    <a:pt x="829323" y="13250"/>
                    <a:pt x="832228" y="20264"/>
                    <a:pt x="832228" y="27578"/>
                  </a:cubicBezTo>
                  <a:lnTo>
                    <a:pt x="832228" y="112920"/>
                  </a:lnTo>
                  <a:cubicBezTo>
                    <a:pt x="832228" y="128151"/>
                    <a:pt x="819881" y="140499"/>
                    <a:pt x="804650" y="140499"/>
                  </a:cubicBezTo>
                  <a:lnTo>
                    <a:pt x="27578" y="140499"/>
                  </a:lnTo>
                  <a:cubicBezTo>
                    <a:pt x="12347" y="140499"/>
                    <a:pt x="0" y="128151"/>
                    <a:pt x="0" y="112920"/>
                  </a:cubicBezTo>
                  <a:lnTo>
                    <a:pt x="0" y="27578"/>
                  </a:lnTo>
                  <a:cubicBezTo>
                    <a:pt x="0" y="12347"/>
                    <a:pt x="12347" y="0"/>
                    <a:pt x="27578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32228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QBER = Intrusion Indicator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411910" y="4537602"/>
            <a:ext cx="2377166" cy="710885"/>
            <a:chOff x="0" y="0"/>
            <a:chExt cx="469821" cy="14049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9821" cy="140499"/>
            </a:xfrm>
            <a:custGeom>
              <a:avLst/>
              <a:gdLst/>
              <a:ahLst/>
              <a:cxnLst/>
              <a:rect r="r" b="b" t="t" l="l"/>
              <a:pathLst>
                <a:path h="140499" w="469821">
                  <a:moveTo>
                    <a:pt x="48852" y="0"/>
                  </a:moveTo>
                  <a:lnTo>
                    <a:pt x="420969" y="0"/>
                  </a:lnTo>
                  <a:cubicBezTo>
                    <a:pt x="433925" y="0"/>
                    <a:pt x="446351" y="5147"/>
                    <a:pt x="455512" y="14308"/>
                  </a:cubicBezTo>
                  <a:cubicBezTo>
                    <a:pt x="464674" y="23470"/>
                    <a:pt x="469821" y="35895"/>
                    <a:pt x="469821" y="48852"/>
                  </a:cubicBezTo>
                  <a:lnTo>
                    <a:pt x="469821" y="91647"/>
                  </a:lnTo>
                  <a:cubicBezTo>
                    <a:pt x="469821" y="118627"/>
                    <a:pt x="447949" y="140499"/>
                    <a:pt x="420969" y="140499"/>
                  </a:cubicBezTo>
                  <a:lnTo>
                    <a:pt x="48852" y="140499"/>
                  </a:lnTo>
                  <a:cubicBezTo>
                    <a:pt x="35895" y="140499"/>
                    <a:pt x="23470" y="135352"/>
                    <a:pt x="14308" y="126190"/>
                  </a:cubicBezTo>
                  <a:cubicBezTo>
                    <a:pt x="5147" y="117029"/>
                    <a:pt x="0" y="104603"/>
                    <a:pt x="0" y="91647"/>
                  </a:cubicBezTo>
                  <a:lnTo>
                    <a:pt x="0" y="48852"/>
                  </a:lnTo>
                  <a:cubicBezTo>
                    <a:pt x="0" y="35895"/>
                    <a:pt x="5147" y="23470"/>
                    <a:pt x="14308" y="14308"/>
                  </a:cubicBezTo>
                  <a:cubicBezTo>
                    <a:pt x="23470" y="5147"/>
                    <a:pt x="35895" y="0"/>
                    <a:pt x="48852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69821" cy="188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E4100"/>
                  </a:solidFill>
                  <a:latin typeface="Gordita"/>
                  <a:ea typeface="Gordita"/>
                  <a:cs typeface="Gordita"/>
                  <a:sym typeface="Gordita"/>
                </a:rPr>
                <a:t>Noise Impact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254114" y="5296112"/>
            <a:ext cx="5574852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E4100"/>
                </a:solidFill>
                <a:latin typeface="Gordita Bold"/>
                <a:ea typeface="Gordita Bold"/>
                <a:cs typeface="Gordita Bold"/>
                <a:sym typeface="Gordita Bold"/>
              </a:rPr>
              <a:t>Low QBER → </a:t>
            </a:r>
            <a:r>
              <a:rPr lang="en-US" sz="1999" b="true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Secure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E4100"/>
                </a:solidFill>
                <a:latin typeface="Gordita Bold"/>
                <a:ea typeface="Gordita Bold"/>
                <a:cs typeface="Gordita Bold"/>
                <a:sym typeface="Gordita Bold"/>
              </a:rPr>
              <a:t> High QBER → </a:t>
            </a: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Eavesdropping detected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56015" y="5315162"/>
            <a:ext cx="5574852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P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erformance degrades with noise, but remains secure below threshold.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266759" y="6455817"/>
            <a:ext cx="8660612" cy="3374633"/>
            <a:chOff x="0" y="0"/>
            <a:chExt cx="1306031" cy="5088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06031" cy="508899"/>
            </a:xfrm>
            <a:custGeom>
              <a:avLst/>
              <a:gdLst/>
              <a:ahLst/>
              <a:cxnLst/>
              <a:rect r="r" b="b" t="t" l="l"/>
              <a:pathLst>
                <a:path h="508899" w="1306031">
                  <a:moveTo>
                    <a:pt x="0" y="0"/>
                  </a:moveTo>
                  <a:lnTo>
                    <a:pt x="1306031" y="0"/>
                  </a:lnTo>
                  <a:lnTo>
                    <a:pt x="1306031" y="508899"/>
                  </a:lnTo>
                  <a:lnTo>
                    <a:pt x="0" y="508899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306031" cy="537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787864" y="6251464"/>
            <a:ext cx="279015" cy="408706"/>
            <a:chOff x="0" y="0"/>
            <a:chExt cx="42076" cy="6163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076" cy="61633"/>
            </a:xfrm>
            <a:custGeom>
              <a:avLst/>
              <a:gdLst/>
              <a:ahLst/>
              <a:cxnLst/>
              <a:rect r="r" b="b" t="t" l="l"/>
              <a:pathLst>
                <a:path h="61633" w="42076">
                  <a:moveTo>
                    <a:pt x="0" y="0"/>
                  </a:moveTo>
                  <a:lnTo>
                    <a:pt x="42076" y="0"/>
                  </a:lnTo>
                  <a:lnTo>
                    <a:pt x="42076" y="61633"/>
                  </a:lnTo>
                  <a:lnTo>
                    <a:pt x="0" y="6163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2076" cy="9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7593" y="6251464"/>
            <a:ext cx="258848" cy="408706"/>
            <a:chOff x="0" y="0"/>
            <a:chExt cx="39035" cy="6163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035" cy="61633"/>
            </a:xfrm>
            <a:custGeom>
              <a:avLst/>
              <a:gdLst/>
              <a:ahLst/>
              <a:cxnLst/>
              <a:rect r="r" b="b" t="t" l="l"/>
              <a:pathLst>
                <a:path h="61633" w="39035">
                  <a:moveTo>
                    <a:pt x="0" y="0"/>
                  </a:moveTo>
                  <a:lnTo>
                    <a:pt x="39035" y="0"/>
                  </a:lnTo>
                  <a:lnTo>
                    <a:pt x="39035" y="61633"/>
                  </a:lnTo>
                  <a:lnTo>
                    <a:pt x="0" y="61633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9035" cy="9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787864" y="9640202"/>
            <a:ext cx="279015" cy="380499"/>
            <a:chOff x="0" y="0"/>
            <a:chExt cx="42076" cy="573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076" cy="57380"/>
            </a:xfrm>
            <a:custGeom>
              <a:avLst/>
              <a:gdLst/>
              <a:ahLst/>
              <a:cxnLst/>
              <a:rect r="r" b="b" t="t" l="l"/>
              <a:pathLst>
                <a:path h="57380" w="42076">
                  <a:moveTo>
                    <a:pt x="0" y="0"/>
                  </a:moveTo>
                  <a:lnTo>
                    <a:pt x="42076" y="0"/>
                  </a:lnTo>
                  <a:lnTo>
                    <a:pt x="42076" y="57380"/>
                  </a:lnTo>
                  <a:lnTo>
                    <a:pt x="0" y="57380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2076" cy="85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7593" y="9640202"/>
            <a:ext cx="258848" cy="380499"/>
            <a:chOff x="0" y="0"/>
            <a:chExt cx="39035" cy="573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035" cy="57380"/>
            </a:xfrm>
            <a:custGeom>
              <a:avLst/>
              <a:gdLst/>
              <a:ahLst/>
              <a:cxnLst/>
              <a:rect r="r" b="b" t="t" l="l"/>
              <a:pathLst>
                <a:path h="57380" w="39035">
                  <a:moveTo>
                    <a:pt x="0" y="0"/>
                  </a:moveTo>
                  <a:lnTo>
                    <a:pt x="39035" y="0"/>
                  </a:lnTo>
                  <a:lnTo>
                    <a:pt x="39035" y="57380"/>
                  </a:lnTo>
                  <a:lnTo>
                    <a:pt x="0" y="57380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9035" cy="85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true" flipV="false" rot="0">
            <a:off x="8649898" y="9934741"/>
            <a:ext cx="454709" cy="531824"/>
          </a:xfrm>
          <a:custGeom>
            <a:avLst/>
            <a:gdLst/>
            <a:ahLst/>
            <a:cxnLst/>
            <a:rect r="r" b="b" t="t" l="l"/>
            <a:pathLst>
              <a:path h="531824" w="454709">
                <a:moveTo>
                  <a:pt x="454709" y="0"/>
                </a:moveTo>
                <a:lnTo>
                  <a:pt x="0" y="0"/>
                </a:lnTo>
                <a:lnTo>
                  <a:pt x="0" y="531824"/>
                </a:lnTo>
                <a:lnTo>
                  <a:pt x="454709" y="531824"/>
                </a:lnTo>
                <a:lnTo>
                  <a:pt x="4547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648033" y="6635190"/>
            <a:ext cx="7946558" cy="3044117"/>
            <a:chOff x="0" y="0"/>
            <a:chExt cx="1082836" cy="41480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82836" cy="414806"/>
            </a:xfrm>
            <a:custGeom>
              <a:avLst/>
              <a:gdLst/>
              <a:ahLst/>
              <a:cxnLst/>
              <a:rect r="r" b="b" t="t" l="l"/>
              <a:pathLst>
                <a:path h="41480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414806"/>
                  </a:lnTo>
                  <a:lnTo>
                    <a:pt x="0" y="414806"/>
                  </a:ln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082836" cy="443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466586" y="6450851"/>
            <a:ext cx="256010" cy="368677"/>
            <a:chOff x="0" y="0"/>
            <a:chExt cx="34885" cy="5023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885" cy="50238"/>
            </a:xfrm>
            <a:custGeom>
              <a:avLst/>
              <a:gdLst/>
              <a:ahLst/>
              <a:cxnLst/>
              <a:rect r="r" b="b" t="t" l="l"/>
              <a:pathLst>
                <a:path h="50238" w="34885">
                  <a:moveTo>
                    <a:pt x="0" y="0"/>
                  </a:moveTo>
                  <a:lnTo>
                    <a:pt x="34885" y="0"/>
                  </a:lnTo>
                  <a:lnTo>
                    <a:pt x="34885" y="50238"/>
                  </a:lnTo>
                  <a:lnTo>
                    <a:pt x="0" y="50238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34885" cy="7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530174" y="6450851"/>
            <a:ext cx="256010" cy="368677"/>
            <a:chOff x="0" y="0"/>
            <a:chExt cx="34885" cy="502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885" cy="50238"/>
            </a:xfrm>
            <a:custGeom>
              <a:avLst/>
              <a:gdLst/>
              <a:ahLst/>
              <a:cxnLst/>
              <a:rect r="r" b="b" t="t" l="l"/>
              <a:pathLst>
                <a:path h="50238" w="34885">
                  <a:moveTo>
                    <a:pt x="0" y="0"/>
                  </a:moveTo>
                  <a:lnTo>
                    <a:pt x="34885" y="0"/>
                  </a:lnTo>
                  <a:lnTo>
                    <a:pt x="34885" y="50238"/>
                  </a:lnTo>
                  <a:lnTo>
                    <a:pt x="0" y="50238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4885" cy="7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7466586" y="9494968"/>
            <a:ext cx="256010" cy="368677"/>
            <a:chOff x="0" y="0"/>
            <a:chExt cx="34885" cy="5023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885" cy="50238"/>
            </a:xfrm>
            <a:custGeom>
              <a:avLst/>
              <a:gdLst/>
              <a:ahLst/>
              <a:cxnLst/>
              <a:rect r="r" b="b" t="t" l="l"/>
              <a:pathLst>
                <a:path h="50238" w="34885">
                  <a:moveTo>
                    <a:pt x="0" y="0"/>
                  </a:moveTo>
                  <a:lnTo>
                    <a:pt x="34885" y="0"/>
                  </a:lnTo>
                  <a:lnTo>
                    <a:pt x="34885" y="50238"/>
                  </a:lnTo>
                  <a:lnTo>
                    <a:pt x="0" y="50238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34885" cy="7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530174" y="9494968"/>
            <a:ext cx="256010" cy="368677"/>
            <a:chOff x="0" y="0"/>
            <a:chExt cx="34885" cy="5023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4885" cy="50238"/>
            </a:xfrm>
            <a:custGeom>
              <a:avLst/>
              <a:gdLst/>
              <a:ahLst/>
              <a:cxnLst/>
              <a:rect r="r" b="b" t="t" l="l"/>
              <a:pathLst>
                <a:path h="50238" w="34885">
                  <a:moveTo>
                    <a:pt x="0" y="0"/>
                  </a:moveTo>
                  <a:lnTo>
                    <a:pt x="34885" y="0"/>
                  </a:lnTo>
                  <a:lnTo>
                    <a:pt x="34885" y="50238"/>
                  </a:lnTo>
                  <a:lnTo>
                    <a:pt x="0" y="50238"/>
                  </a:lnTo>
                  <a:close/>
                </a:path>
              </a:pathLst>
            </a:custGeom>
            <a:solidFill>
              <a:srgbClr val="0F0E0E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4885" cy="7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true" flipV="false" rot="0">
            <a:off x="17941671" y="9567732"/>
            <a:ext cx="506012" cy="591827"/>
          </a:xfrm>
          <a:custGeom>
            <a:avLst/>
            <a:gdLst/>
            <a:ahLst/>
            <a:cxnLst/>
            <a:rect r="r" b="b" t="t" l="l"/>
            <a:pathLst>
              <a:path h="591827" w="506012">
                <a:moveTo>
                  <a:pt x="506012" y="0"/>
                </a:moveTo>
                <a:lnTo>
                  <a:pt x="0" y="0"/>
                </a:lnTo>
                <a:lnTo>
                  <a:pt x="0" y="591827"/>
                </a:lnTo>
                <a:lnTo>
                  <a:pt x="506012" y="591827"/>
                </a:lnTo>
                <a:lnTo>
                  <a:pt x="5060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true" flipV="false" rot="0">
            <a:off x="17977058" y="9640154"/>
            <a:ext cx="435239" cy="509052"/>
          </a:xfrm>
          <a:custGeom>
            <a:avLst/>
            <a:gdLst/>
            <a:ahLst/>
            <a:cxnLst/>
            <a:rect r="r" b="b" t="t" l="l"/>
            <a:pathLst>
              <a:path h="509052" w="435239">
                <a:moveTo>
                  <a:pt x="435239" y="0"/>
                </a:moveTo>
                <a:lnTo>
                  <a:pt x="0" y="0"/>
                </a:lnTo>
                <a:lnTo>
                  <a:pt x="0" y="509052"/>
                </a:lnTo>
                <a:lnTo>
                  <a:pt x="435239" y="509052"/>
                </a:lnTo>
                <a:lnTo>
                  <a:pt x="4352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true" flipV="false" rot="0">
            <a:off x="9144000" y="9830451"/>
            <a:ext cx="454709" cy="531824"/>
          </a:xfrm>
          <a:custGeom>
            <a:avLst/>
            <a:gdLst/>
            <a:ahLst/>
            <a:cxnLst/>
            <a:rect r="r" b="b" t="t" l="l"/>
            <a:pathLst>
              <a:path h="531824" w="454709">
                <a:moveTo>
                  <a:pt x="454709" y="0"/>
                </a:moveTo>
                <a:lnTo>
                  <a:pt x="0" y="0"/>
                </a:lnTo>
                <a:lnTo>
                  <a:pt x="0" y="531824"/>
                </a:lnTo>
                <a:lnTo>
                  <a:pt x="454709" y="531824"/>
                </a:lnTo>
                <a:lnTo>
                  <a:pt x="4547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true" flipV="false" rot="0">
            <a:off x="15079386" y="5978738"/>
            <a:ext cx="435239" cy="509052"/>
          </a:xfrm>
          <a:custGeom>
            <a:avLst/>
            <a:gdLst/>
            <a:ahLst/>
            <a:cxnLst/>
            <a:rect r="r" b="b" t="t" l="l"/>
            <a:pathLst>
              <a:path h="509052" w="435239">
                <a:moveTo>
                  <a:pt x="435239" y="0"/>
                </a:moveTo>
                <a:lnTo>
                  <a:pt x="0" y="0"/>
                </a:lnTo>
                <a:lnTo>
                  <a:pt x="0" y="509051"/>
                </a:lnTo>
                <a:lnTo>
                  <a:pt x="435239" y="509051"/>
                </a:lnTo>
                <a:lnTo>
                  <a:pt x="4352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406441" y="6498476"/>
            <a:ext cx="2377594" cy="770000"/>
            <a:chOff x="0" y="0"/>
            <a:chExt cx="469905" cy="15218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69905" cy="152182"/>
            </a:xfrm>
            <a:custGeom>
              <a:avLst/>
              <a:gdLst/>
              <a:ahLst/>
              <a:cxnLst/>
              <a:rect r="r" b="b" t="t" l="l"/>
              <a:pathLst>
                <a:path h="152182" w="469905">
                  <a:moveTo>
                    <a:pt x="48843" y="0"/>
                  </a:moveTo>
                  <a:lnTo>
                    <a:pt x="421062" y="0"/>
                  </a:lnTo>
                  <a:cubicBezTo>
                    <a:pt x="434016" y="0"/>
                    <a:pt x="446440" y="5146"/>
                    <a:pt x="455600" y="14306"/>
                  </a:cubicBezTo>
                  <a:cubicBezTo>
                    <a:pt x="464759" y="23466"/>
                    <a:pt x="469905" y="35889"/>
                    <a:pt x="469905" y="48843"/>
                  </a:cubicBezTo>
                  <a:lnTo>
                    <a:pt x="469905" y="103339"/>
                  </a:lnTo>
                  <a:cubicBezTo>
                    <a:pt x="469905" y="130314"/>
                    <a:pt x="448038" y="152182"/>
                    <a:pt x="421062" y="152182"/>
                  </a:cubicBezTo>
                  <a:lnTo>
                    <a:pt x="48843" y="152182"/>
                  </a:lnTo>
                  <a:cubicBezTo>
                    <a:pt x="21868" y="152182"/>
                    <a:pt x="0" y="130314"/>
                    <a:pt x="0" y="103339"/>
                  </a:cubicBezTo>
                  <a:lnTo>
                    <a:pt x="0" y="48843"/>
                  </a:lnTo>
                  <a:cubicBezTo>
                    <a:pt x="0" y="21868"/>
                    <a:pt x="21868" y="0"/>
                    <a:pt x="48843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469905" cy="199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Conclusion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888615" y="6806640"/>
            <a:ext cx="3002891" cy="770000"/>
            <a:chOff x="0" y="0"/>
            <a:chExt cx="593488" cy="15218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3488" cy="152182"/>
            </a:xfrm>
            <a:custGeom>
              <a:avLst/>
              <a:gdLst/>
              <a:ahLst/>
              <a:cxnLst/>
              <a:rect r="r" b="b" t="t" l="l"/>
              <a:pathLst>
                <a:path h="152182" w="593488">
                  <a:moveTo>
                    <a:pt x="38672" y="0"/>
                  </a:moveTo>
                  <a:lnTo>
                    <a:pt x="554816" y="0"/>
                  </a:lnTo>
                  <a:cubicBezTo>
                    <a:pt x="565073" y="0"/>
                    <a:pt x="574909" y="4074"/>
                    <a:pt x="582162" y="11327"/>
                  </a:cubicBezTo>
                  <a:cubicBezTo>
                    <a:pt x="589414" y="18579"/>
                    <a:pt x="593488" y="28416"/>
                    <a:pt x="593488" y="38672"/>
                  </a:cubicBezTo>
                  <a:lnTo>
                    <a:pt x="593488" y="113510"/>
                  </a:lnTo>
                  <a:cubicBezTo>
                    <a:pt x="593488" y="123766"/>
                    <a:pt x="589414" y="133603"/>
                    <a:pt x="582162" y="140855"/>
                  </a:cubicBezTo>
                  <a:cubicBezTo>
                    <a:pt x="574909" y="148108"/>
                    <a:pt x="565073" y="152182"/>
                    <a:pt x="554816" y="152182"/>
                  </a:cubicBezTo>
                  <a:lnTo>
                    <a:pt x="38672" y="152182"/>
                  </a:lnTo>
                  <a:cubicBezTo>
                    <a:pt x="28416" y="152182"/>
                    <a:pt x="18579" y="148108"/>
                    <a:pt x="11327" y="140855"/>
                  </a:cubicBezTo>
                  <a:cubicBezTo>
                    <a:pt x="4074" y="133603"/>
                    <a:pt x="0" y="123766"/>
                    <a:pt x="0" y="113510"/>
                  </a:cubicBezTo>
                  <a:lnTo>
                    <a:pt x="0" y="38672"/>
                  </a:lnTo>
                  <a:cubicBezTo>
                    <a:pt x="0" y="28416"/>
                    <a:pt x="4074" y="18579"/>
                    <a:pt x="11327" y="11327"/>
                  </a:cubicBezTo>
                  <a:cubicBezTo>
                    <a:pt x="18579" y="4074"/>
                    <a:pt x="28416" y="0"/>
                    <a:pt x="38672" y="0"/>
                  </a:cubicBezTo>
                  <a:close/>
                </a:path>
              </a:pathLst>
            </a:custGeom>
            <a:ln w="19050" cap="sq">
              <a:solidFill>
                <a:srgbClr val="0F0E0E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593488" cy="199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F0E0E"/>
                  </a:solidFill>
                  <a:latin typeface="Gordita"/>
                  <a:ea typeface="Gordita"/>
                  <a:cs typeface="Gordita"/>
                  <a:sym typeface="Gordita"/>
                </a:rPr>
                <a:t>Future Scope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0644342" y="7719514"/>
            <a:ext cx="6569892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T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est on real quantum hardware (IBM Quantum)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Add quantum error correction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Extend to secure campus-wide communication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Compare with post-quantum cryptographic methods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809424" y="7316101"/>
            <a:ext cx="7721264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E4100"/>
                </a:solidFill>
                <a:latin typeface="Gordita"/>
                <a:ea typeface="Gordita"/>
                <a:cs typeface="Gordita"/>
                <a:sym typeface="Gordita"/>
              </a:rPr>
              <a:t>Our Hybrid Security Model: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Quantum Key Distribution using </a:t>
            </a: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BB84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AES-based classical encryption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Built-in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 intrusion detection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F0E0E"/>
                </a:solidFill>
                <a:latin typeface="Gordita Bold"/>
                <a:ea typeface="Gordita Bold"/>
                <a:cs typeface="Gordita Bold"/>
                <a:sym typeface="Gordita Bold"/>
              </a:rPr>
              <a:t>Future-ready framework 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for academic institutions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“</a:t>
            </a:r>
            <a:r>
              <a:rPr lang="en-US" b="true" sz="1999">
                <a:solidFill>
                  <a:srgbClr val="FE4100"/>
                </a:solidFill>
                <a:latin typeface="Gordita Bold"/>
                <a:ea typeface="Gordita Bold"/>
                <a:cs typeface="Gordita Bold"/>
                <a:sym typeface="Gordita Bold"/>
              </a:rPr>
              <a:t>Combining physics-based security with practical encryption strengthens institutional data protection.</a:t>
            </a:r>
            <a:r>
              <a:rPr lang="en-US" sz="1999">
                <a:solidFill>
                  <a:srgbClr val="0F0E0E"/>
                </a:solidFill>
                <a:latin typeface="Gordita"/>
                <a:ea typeface="Gordita"/>
                <a:cs typeface="Gordita"/>
                <a:sym typeface="Gordita"/>
              </a:rPr>
              <a:t>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DAHCrboGDUk</dc:identifier>
  <dcterms:modified xsi:type="dcterms:W3CDTF">2011-08-01T06:04:30Z</dcterms:modified>
  <cp:revision>1</cp:revision>
  <dc:title>Securing Exam Paper</dc:title>
</cp:coreProperties>
</file>